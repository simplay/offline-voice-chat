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2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2099" autoAdjust="0"/>
  </p:normalViewPr>
  <p:slideViewPr>
    <p:cSldViewPr snapToGrid="0">
      <p:cViewPr varScale="1">
        <p:scale>
          <a:sx n="83" d="100"/>
          <a:sy n="83" d="100"/>
        </p:scale>
        <p:origin x="3258" y="90"/>
      </p:cViewPr>
      <p:guideLst/>
    </p:cSldViewPr>
  </p:slideViewPr>
  <p:notesTextViewPr>
    <p:cViewPr>
      <p:scale>
        <a:sx n="300" d="100"/>
        <a:sy n="300" d="100"/>
      </p:scale>
      <p:origin x="0" y="-80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+ </a:t>
            </a:r>
            <a:r>
              <a:rPr dirty="0"/>
              <a:t>1 Language model: Qwen3.5-4B, 4-bit GGUF, about 2.5 GB.</a:t>
            </a:r>
          </a:p>
          <a:p>
            <a:r>
              <a:rPr lang="de-CH" dirty="0"/>
              <a:t>+ </a:t>
            </a:r>
            <a:r>
              <a:rPr dirty="0"/>
              <a:t>2 Model runtime: llama.cpp loads the model once and streams tokens. It runs on CPU or GPU (CUDA or Metal</a:t>
            </a:r>
            <a:r>
              <a:rPr lang="en-US" dirty="0"/>
              <a:t>). </a:t>
            </a:r>
          </a:p>
          <a:p>
            <a:r>
              <a:rPr lang="de-CH" dirty="0"/>
              <a:t>+ </a:t>
            </a:r>
            <a:r>
              <a:rPr dirty="0"/>
              <a:t>3 Speech-to-text and 4 text-to-speech: Moonshine, both local. </a:t>
            </a:r>
            <a:r>
              <a:rPr lang="de-CH" dirty="0"/>
              <a:t>Communication</a:t>
            </a:r>
            <a:r>
              <a:rPr dirty="0"/>
              <a:t> between them is plain text.</a:t>
            </a:r>
          </a:p>
          <a:p>
            <a:r>
              <a:rPr lang="de-CH" dirty="0"/>
              <a:t>+ </a:t>
            </a:r>
            <a:r>
              <a:rPr dirty="0"/>
              <a:t>5 System prompt and 6 memory: context that is added to every request.</a:t>
            </a:r>
          </a:p>
          <a:p>
            <a:r>
              <a:rPr lang="de-CH" dirty="0"/>
              <a:t>+ </a:t>
            </a:r>
            <a:r>
              <a:rPr dirty="0"/>
              <a:t>7 Barge-in: the microphone stays </a:t>
            </a:r>
            <a:r>
              <a:rPr lang="de-CH" dirty="0" err="1"/>
              <a:t>active</a:t>
            </a:r>
            <a:r>
              <a:rPr dirty="0"/>
              <a:t>, so the newest </a:t>
            </a:r>
            <a:r>
              <a:rPr lang="de-CH" dirty="0" err="1"/>
              <a:t>input</a:t>
            </a:r>
            <a:r>
              <a:rPr lang="de-CH" dirty="0"/>
              <a:t> </a:t>
            </a:r>
            <a:r>
              <a:rPr dirty="0"/>
              <a:t>can replace the current reply.</a:t>
            </a:r>
          </a:p>
          <a:p>
            <a:r>
              <a:rPr lang="de-CH" dirty="0"/>
              <a:t>+ </a:t>
            </a:r>
            <a:r>
              <a:rPr dirty="0"/>
              <a:t>8 Harness and tools: the Python application </a:t>
            </a:r>
            <a:r>
              <a:rPr lang="de-CH" dirty="0" err="1"/>
              <a:t>performs</a:t>
            </a:r>
            <a:r>
              <a:rPr dirty="0"/>
              <a:t> </a:t>
            </a:r>
            <a:r>
              <a:rPr lang="de-CH" dirty="0" err="1"/>
              <a:t>one</a:t>
            </a:r>
            <a:r>
              <a:rPr lang="de-CH" dirty="0"/>
              <a:t> </a:t>
            </a:r>
            <a:r>
              <a:rPr dirty="0"/>
              <a:t>turn at a time, confirms that the reply was played, and </a:t>
            </a:r>
            <a:r>
              <a:rPr lang="de-CH" dirty="0" err="1"/>
              <a:t>handles</a:t>
            </a:r>
            <a:r>
              <a:rPr lang="de-CH" dirty="0"/>
              <a:t> </a:t>
            </a:r>
            <a:r>
              <a:rPr dirty="0"/>
              <a:t>privileges.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A</a:t>
            </a:r>
            <a:r>
              <a:rPr dirty="0"/>
              <a:t>SR is streaming</a:t>
            </a:r>
            <a:r>
              <a:rPr lang="de-CH" dirty="0"/>
              <a:t> and</a:t>
            </a:r>
            <a:r>
              <a:rPr dirty="0"/>
              <a:t> produces transcripts</a:t>
            </a:r>
            <a:r>
              <a:rPr lang="de-CH" dirty="0"/>
              <a:t> (</a:t>
            </a:r>
            <a:r>
              <a:rPr dirty="0"/>
              <a:t>every 0.25 s</a:t>
            </a:r>
            <a:r>
              <a:rPr lang="de-CH" dirty="0"/>
              <a:t>)</a:t>
            </a:r>
            <a:r>
              <a:rPr dirty="0"/>
              <a:t> w</a:t>
            </a:r>
            <a:r>
              <a:rPr lang="de-CH" dirty="0" err="1"/>
              <a:t>hile</a:t>
            </a:r>
            <a:r>
              <a:rPr lang="de-CH" dirty="0"/>
              <a:t> a </a:t>
            </a:r>
            <a:r>
              <a:rPr lang="de-CH" dirty="0" err="1"/>
              <a:t>user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dirty="0"/>
              <a:t> talk</a:t>
            </a:r>
            <a:r>
              <a:rPr lang="de-CH" dirty="0" err="1"/>
              <a:t>ing</a:t>
            </a:r>
            <a:r>
              <a:rPr lang="de-CH" dirty="0"/>
              <a:t> (=&gt; </a:t>
            </a:r>
            <a:r>
              <a:rPr dirty="0"/>
              <a:t>final transcript when </a:t>
            </a:r>
            <a:r>
              <a:rPr lang="de-CH" dirty="0"/>
              <a:t>the </a:t>
            </a:r>
            <a:r>
              <a:rPr lang="de-CH" dirty="0" err="1"/>
              <a:t>user</a:t>
            </a:r>
            <a:r>
              <a:rPr dirty="0"/>
              <a:t> pause</a:t>
            </a:r>
            <a:r>
              <a:rPr lang="de-CH" dirty="0"/>
              <a:t>s)</a:t>
            </a:r>
            <a:r>
              <a:rPr dirty="0"/>
              <a:t>. </a:t>
            </a:r>
            <a:br>
              <a:rPr lang="de-CH" dirty="0"/>
            </a:br>
            <a:r>
              <a:rPr dirty="0"/>
              <a:t>Streaming output: tokens go to speech synthesis </a:t>
            </a:r>
            <a:r>
              <a:rPr lang="de-CH" dirty="0" err="1"/>
              <a:t>when</a:t>
            </a:r>
            <a:r>
              <a:rPr dirty="0"/>
              <a:t> they arrive.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Detect: If n</a:t>
            </a:r>
            <a:r>
              <a:rPr lang="de-CH" dirty="0" err="1"/>
              <a:t>othing</a:t>
            </a:r>
            <a:r>
              <a:rPr lang="de-CH" dirty="0"/>
              <a:t> </a:t>
            </a:r>
            <a:r>
              <a:rPr lang="de-CH" dirty="0" err="1"/>
              <a:t>has</a:t>
            </a:r>
            <a:r>
              <a:rPr lang="de-CH" dirty="0"/>
              <a:t> </a:t>
            </a:r>
            <a:r>
              <a:rPr dirty="0"/>
              <a:t>spoken yet, cancel immediately. Otherwise</a:t>
            </a:r>
            <a:r>
              <a:rPr lang="de-CH" dirty="0"/>
              <a:t>,</a:t>
            </a:r>
            <a:r>
              <a:rPr dirty="0"/>
              <a:t> it compares the first transcript with what it is saying and ignores a match. </a:t>
            </a:r>
            <a:br>
              <a:rPr lang="de-CH" dirty="0"/>
            </a:br>
            <a:br>
              <a:rPr lang="de-CH" dirty="0"/>
            </a:br>
            <a:r>
              <a:rPr lang="en-US" dirty="0"/>
              <a:t>On Linux, WebRTC acoustic echo cancellation removes the speaker signal from the microphone.</a:t>
            </a:r>
            <a:endParaRPr dirty="0"/>
          </a:p>
          <a:p>
            <a:br>
              <a:rPr lang="de-CH" dirty="0"/>
            </a:br>
            <a:r>
              <a:rPr dirty="0"/>
              <a:t>Cancel: set the cancellation flags. llama.cpp stops at its next step </a:t>
            </a:r>
            <a:r>
              <a:rPr lang="de-CH" dirty="0"/>
              <a:t>by </a:t>
            </a:r>
            <a:r>
              <a:rPr lang="de-CH" dirty="0" err="1"/>
              <a:t>firing</a:t>
            </a:r>
            <a:r>
              <a:rPr dirty="0"/>
              <a:t> an abort callback</a:t>
            </a:r>
            <a:r>
              <a:rPr lang="de-CH" dirty="0"/>
              <a:t> (</a:t>
            </a:r>
            <a:r>
              <a:rPr dirty="0"/>
              <a:t>within m</a:t>
            </a:r>
            <a:r>
              <a:rPr lang="de-CH" dirty="0"/>
              <a:t>s)</a:t>
            </a:r>
            <a:r>
              <a:rPr dirty="0"/>
              <a:t>, and playback stops after 40 </a:t>
            </a:r>
            <a:r>
              <a:rPr dirty="0" err="1"/>
              <a:t>ms.</a:t>
            </a:r>
            <a:endParaRPr dirty="0"/>
          </a:p>
          <a:p>
            <a:r>
              <a:rPr dirty="0"/>
              <a:t>Clean up: a separate worker stops speech synthesis</a:t>
            </a:r>
            <a:r>
              <a:rPr lang="de-CH" dirty="0"/>
              <a:t> =&gt;</a:t>
            </a:r>
            <a:r>
              <a:rPr dirty="0"/>
              <a:t> recognition is never blocked.</a:t>
            </a:r>
          </a:p>
          <a:p>
            <a:r>
              <a:rPr dirty="0"/>
              <a:t>Continue: only the newest </a:t>
            </a:r>
            <a:r>
              <a:rPr lang="de-CH" dirty="0" err="1"/>
              <a:t>speech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processed</a:t>
            </a:r>
            <a:r>
              <a:rPr dirty="0"/>
              <a:t>. </a:t>
            </a:r>
            <a:r>
              <a:rPr lang="de-CH" dirty="0"/>
              <a:t>C</a:t>
            </a:r>
            <a:r>
              <a:rPr dirty="0" err="1"/>
              <a:t>ounters</a:t>
            </a:r>
            <a:r>
              <a:rPr dirty="0"/>
              <a:t> prevent outdated requests from starting.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harness </a:t>
            </a:r>
            <a:r>
              <a:rPr lang="de-CH" dirty="0"/>
              <a:t>(</a:t>
            </a:r>
            <a:r>
              <a:rPr dirty="0"/>
              <a:t>Python application</a:t>
            </a:r>
            <a:r>
              <a:rPr lang="de-CH" dirty="0"/>
              <a:t>)</a:t>
            </a:r>
            <a:r>
              <a:rPr dirty="0"/>
              <a:t> connects the components</a:t>
            </a:r>
            <a:r>
              <a:rPr lang="de-CH" dirty="0"/>
              <a:t> and</a:t>
            </a:r>
            <a:r>
              <a:rPr dirty="0"/>
              <a:t> processes one </a:t>
            </a:r>
            <a:r>
              <a:rPr lang="de-CH" dirty="0" err="1"/>
              <a:t>input</a:t>
            </a:r>
            <a:r>
              <a:rPr lang="de-CH" dirty="0"/>
              <a:t> after </a:t>
            </a:r>
            <a:r>
              <a:rPr lang="de-CH" dirty="0" err="1"/>
              <a:t>another</a:t>
            </a:r>
            <a:r>
              <a:rPr dirty="0"/>
              <a:t>.</a:t>
            </a:r>
          </a:p>
          <a:p>
            <a:br>
              <a:rPr lang="de-CH" dirty="0"/>
            </a:br>
            <a:r>
              <a:rPr dirty="0"/>
              <a:t>Voice commands: Moonshine transcribes speech. </a:t>
            </a:r>
            <a:br>
              <a:rPr lang="de-CH" dirty="0"/>
            </a:br>
            <a:r>
              <a:rPr lang="de-CH" dirty="0"/>
              <a:t>t</a:t>
            </a:r>
            <a:r>
              <a:rPr dirty="0"/>
              <a:t>he command registry ignores case and punctuation when matching a whole phrase such as "What time is it?" A "please check online" prefix passes the following words to the online lookup. A match runs a Python handler</a:t>
            </a:r>
            <a:r>
              <a:rPr lang="de-CH" dirty="0"/>
              <a:t>.</a:t>
            </a:r>
            <a:r>
              <a:rPr dirty="0"/>
              <a:t> </a:t>
            </a:r>
            <a:r>
              <a:rPr lang="de-CH" dirty="0"/>
              <a:t>O</a:t>
            </a:r>
            <a:r>
              <a:rPr dirty="0" err="1"/>
              <a:t>therwise</a:t>
            </a:r>
            <a:r>
              <a:rPr lang="de-CH" dirty="0"/>
              <a:t>,</a:t>
            </a:r>
            <a:r>
              <a:rPr dirty="0"/>
              <a:t> Qwen receives the request.</a:t>
            </a:r>
          </a:p>
          <a:p>
            <a:br>
              <a:rPr lang="de-CH" dirty="0"/>
            </a:br>
            <a:r>
              <a:rPr dirty="0"/>
              <a:t>Examples: time, date, help, reset, goodnight story, and online search. "Stop" and "Please terminate yourself"</a:t>
            </a:r>
            <a:br>
              <a:rPr lang="de-CH" dirty="0"/>
            </a:br>
            <a:endParaRPr dirty="0"/>
          </a:p>
          <a:p>
            <a:r>
              <a:rPr dirty="0"/>
              <a:t>File context: for "Read goodnight story dot txt", the harness selects the file.</a:t>
            </a:r>
          </a:p>
          <a:p>
            <a:br>
              <a:rPr lang="de-CH" dirty="0"/>
            </a:br>
            <a:r>
              <a:rPr dirty="0"/>
              <a:t>Safety:</a:t>
            </a:r>
            <a:r>
              <a:rPr lang="de-CH" dirty="0"/>
              <a:t> </a:t>
            </a:r>
            <a:r>
              <a:rPr dirty="0"/>
              <a:t>model output is never executed. </a:t>
            </a:r>
            <a:r>
              <a:rPr lang="de-CH" dirty="0" err="1"/>
              <a:t>No</a:t>
            </a:r>
            <a:r>
              <a:rPr dirty="0"/>
              <a:t> shell and no autonomous tool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4.png"/><Relationship Id="rId5" Type="http://schemas.openxmlformats.org/officeDocument/2006/relationships/image" Target="../media/image8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.png"/><Relationship Id="rId4" Type="http://schemas.openxmlformats.org/officeDocument/2006/relationships/image" Target="../media/image12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">
            <a:extLst>
              <a:ext uri="{FF2B5EF4-FFF2-40B4-BE49-F238E27FC236}">
                <a16:creationId xmlns:a16="http://schemas.microsoft.com/office/drawing/2014/main" id="{9F8DAAAA-F2CD-43FB-8694-81FC2F83CCBB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0763250" cy="156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650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4650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Tutorial on Building</a:t>
            </a:r>
          </a:p>
          <a:p>
            <a:pPr algn="l">
              <a:defRPr sz="4650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4650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a Local Voice Agent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C7B41E86-7EF4-453F-9277-28E4C931C4A8}"/>
              </a:ext>
            </a:extLst>
          </p:cNvPr>
          <p:cNvSpPr>
            <a:spLocks noGrp="1"/>
          </p:cNvSpPr>
          <p:nvPr/>
        </p:nvSpPr>
        <p:spPr>
          <a:xfrm>
            <a:off x="609600" y="3276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9"/>
                </a:solidFill>
                <a:latin typeface="Arial"/>
                <a:ea typeface="Arial"/>
                <a:cs typeface="Arial"/>
              </a:rPr>
              <a:t>Architecture and implementation with existing models</a:t>
            </a:r>
          </a:p>
        </p:txBody>
      </p:sp>
      <p:sp>
        <p:nvSpPr>
          <p:cNvPr id="4" name="text-4">
            <a:extLst>
              <a:ext uri="{FF2B5EF4-FFF2-40B4-BE49-F238E27FC236}">
                <a16:creationId xmlns:a16="http://schemas.microsoft.com/office/drawing/2014/main" id="{00558489-67DF-4D98-9EB2-5EED8AFABE13}"/>
              </a:ext>
            </a:extLst>
          </p:cNvPr>
          <p:cNvSpPr>
            <a:spLocks noGrp="1"/>
          </p:cNvSpPr>
          <p:nvPr/>
        </p:nvSpPr>
        <p:spPr>
          <a:xfrm>
            <a:off x="609600" y="4695825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344B59"/>
                </a:solidFill>
                <a:latin typeface="Arial"/>
                <a:ea typeface="Arial"/>
                <a:cs typeface="Arial"/>
              </a:rPr>
              <a:t>Michael</a:t>
            </a:r>
            <a:r>
              <a:rPr lang="en-US" sz="2100" b="0" dirty="0">
                <a:solidFill>
                  <a:srgbClr val="344B59"/>
                </a:solidFill>
                <a:latin typeface="Arial"/>
                <a:ea typeface="Arial"/>
                <a:cs typeface="Arial"/>
              </a:rPr>
              <a:t> Single</a:t>
            </a:r>
            <a:endParaRPr sz="2100" b="0" dirty="0">
              <a:solidFill>
                <a:srgbClr val="344B5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-5">
            <a:extLst>
              <a:ext uri="{FF2B5EF4-FFF2-40B4-BE49-F238E27FC236}">
                <a16:creationId xmlns:a16="http://schemas.microsoft.com/office/drawing/2014/main" id="{43407A14-DF0B-4CE9-9E95-65CCCE96B5C2}"/>
              </a:ext>
            </a:extLst>
          </p:cNvPr>
          <p:cNvSpPr>
            <a:spLocks noGrp="1"/>
          </p:cNvSpPr>
          <p:nvPr/>
        </p:nvSpPr>
        <p:spPr>
          <a:xfrm>
            <a:off x="609600" y="5210175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lang="de-CH" sz="18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28</a:t>
            </a:r>
            <a:r>
              <a:rPr sz="18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90470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-6">
            <a:extLst>
              <a:ext uri="{FF2B5EF4-FFF2-40B4-BE49-F238E27FC236}">
                <a16:creationId xmlns:a16="http://schemas.microsoft.com/office/drawing/2014/main" id="{F022B9CE-4329-4443-8055-F0FB6AEDE713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3A4A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" name="text-7">
            <a:extLst>
              <a:ext uri="{FF2B5EF4-FFF2-40B4-BE49-F238E27FC236}">
                <a16:creationId xmlns:a16="http://schemas.microsoft.com/office/drawing/2014/main" id="{8B32FE92-5A2E-4E1D-8E80-3965CD2904C4}"/>
              </a:ext>
            </a:extLst>
          </p:cNvPr>
          <p:cNvSpPr>
            <a:spLocks noGrp="1"/>
          </p:cNvSpPr>
          <p:nvPr/>
        </p:nvSpPr>
        <p:spPr>
          <a:xfrm>
            <a:off x="11096625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1075" y="1709928"/>
            <a:ext cx="361950" cy="361950"/>
          </a:xfrm>
          <a:prstGeom prst="rect">
            <a:avLst/>
          </a:prstGeom>
        </p:spPr>
      </p:pic>
      <p:sp>
        <p:nvSpPr>
          <p:cNvPr id="4" name="text-8">
            <a:extLst>
              <a:ext uri="{FF2B5EF4-FFF2-40B4-BE49-F238E27FC236}">
                <a16:creationId xmlns:a16="http://schemas.microsoft.com/office/drawing/2014/main" id="{2D8E0D1C-C968-40CB-BCB7-AA9C45A0E06D}"/>
              </a:ext>
            </a:extLst>
          </p:cNvPr>
          <p:cNvSpPr>
            <a:spLocks noGrp="1"/>
          </p:cNvSpPr>
          <p:nvPr/>
        </p:nvSpPr>
        <p:spPr>
          <a:xfrm>
            <a:off x="1609725" y="1645920"/>
            <a:ext cx="923925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13A4A"/>
                </a:solidFill>
                <a:latin typeface="Arial"/>
                <a:ea typeface="Arial"/>
                <a:cs typeface="Arial"/>
              </a:rPr>
              <a:t>Spoken question and answer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81075" y="2587751"/>
            <a:ext cx="361950" cy="361950"/>
          </a:xfrm>
          <a:prstGeom prst="rect">
            <a:avLst/>
          </a:prstGeom>
        </p:spPr>
      </p:pic>
      <p:sp>
        <p:nvSpPr>
          <p:cNvPr id="6" name="text-9">
            <a:extLst>
              <a:ext uri="{FF2B5EF4-FFF2-40B4-BE49-F238E27FC236}">
                <a16:creationId xmlns:a16="http://schemas.microsoft.com/office/drawing/2014/main" id="{DE981007-AEDD-4B47-BF0D-6B52CA946DE0}"/>
              </a:ext>
            </a:extLst>
          </p:cNvPr>
          <p:cNvSpPr>
            <a:spLocks noGrp="1"/>
          </p:cNvSpPr>
          <p:nvPr/>
        </p:nvSpPr>
        <p:spPr>
          <a:xfrm>
            <a:off x="1609725" y="2523744"/>
            <a:ext cx="923925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13A4A"/>
                </a:solidFill>
                <a:latin typeface="Arial"/>
                <a:ea typeface="Arial"/>
                <a:cs typeface="Arial"/>
              </a:rPr>
              <a:t>Follow-up in context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81075" y="3465575"/>
            <a:ext cx="361950" cy="361950"/>
          </a:xfrm>
          <a:prstGeom prst="rect">
            <a:avLst/>
          </a:prstGeom>
        </p:spPr>
      </p:pic>
      <p:sp>
        <p:nvSpPr>
          <p:cNvPr id="8" name="text-10">
            <a:extLst>
              <a:ext uri="{FF2B5EF4-FFF2-40B4-BE49-F238E27FC236}">
                <a16:creationId xmlns:a16="http://schemas.microsoft.com/office/drawing/2014/main" id="{E1591ADA-E734-4ECC-A37C-8D587ECD5FD5}"/>
              </a:ext>
            </a:extLst>
          </p:cNvPr>
          <p:cNvSpPr>
            <a:spLocks noGrp="1"/>
          </p:cNvSpPr>
          <p:nvPr/>
        </p:nvSpPr>
        <p:spPr>
          <a:xfrm>
            <a:off x="1609725" y="3401568"/>
            <a:ext cx="923925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13A4A"/>
                </a:solidFill>
                <a:latin typeface="Arial"/>
                <a:ea typeface="Arial"/>
                <a:cs typeface="Arial"/>
              </a:rPr>
              <a:t>Registered command</a:t>
            </a:r>
          </a:p>
        </p:txBody>
      </p:sp>
      <p:sp>
        <p:nvSpPr>
          <p:cNvPr id="20" name="text-file-demo"/>
          <p:cNvSpPr>
            <a:spLocks noGrp="1"/>
          </p:cNvSpPr>
          <p:nvPr/>
        </p:nvSpPr>
        <p:spPr>
          <a:xfrm>
            <a:off x="1609725" y="4279392"/>
            <a:ext cx="923925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13A4A"/>
                </a:solidFill>
                <a:latin typeface="Arial"/>
                <a:ea typeface="Arial"/>
                <a:cs typeface="Arial"/>
              </a:rPr>
              <a:t>Read a local file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81075" y="5221224"/>
            <a:ext cx="361950" cy="361950"/>
          </a:xfrm>
          <a:prstGeom prst="rect">
            <a:avLst/>
          </a:prstGeom>
        </p:spPr>
      </p:pic>
      <p:sp>
        <p:nvSpPr>
          <p:cNvPr id="10" name="text-11">
            <a:extLst>
              <a:ext uri="{FF2B5EF4-FFF2-40B4-BE49-F238E27FC236}">
                <a16:creationId xmlns:a16="http://schemas.microsoft.com/office/drawing/2014/main" id="{6C1624EC-715B-480E-A118-688984B86B40}"/>
              </a:ext>
            </a:extLst>
          </p:cNvPr>
          <p:cNvSpPr>
            <a:spLocks noGrp="1"/>
          </p:cNvSpPr>
          <p:nvPr/>
        </p:nvSpPr>
        <p:spPr>
          <a:xfrm>
            <a:off x="1609725" y="5157216"/>
            <a:ext cx="923925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0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13A4A"/>
                </a:solidFill>
                <a:latin typeface="Arial"/>
                <a:ea typeface="Arial"/>
                <a:cs typeface="Arial"/>
              </a:rPr>
              <a:t>Barge-in</a:t>
            </a:r>
          </a:p>
        </p:txBody>
      </p:sp>
      <p:pic>
        <p:nvPicPr>
          <p:cNvPr id="21" name="Picture File Demo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408" y="4343400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044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iagram-15">
            <a:extLst>
              <a:ext uri="{FF2B5EF4-FFF2-40B4-BE49-F238E27FC236}">
                <a16:creationId xmlns:a16="http://schemas.microsoft.com/office/drawing/2014/main" id="{C8DC54E1-8641-5268-5F67-2118E22EBFE7}"/>
              </a:ext>
            </a:extLst>
          </p:cNvPr>
          <p:cNvSpPr>
            <a:spLocks noGrp="1"/>
          </p:cNvSpPr>
          <p:nvPr/>
        </p:nvSpPr>
        <p:spPr>
          <a:xfrm>
            <a:off x="4110037" y="5448300"/>
            <a:ext cx="4808538" cy="825498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  <p:txBody>
          <a:bodyPr/>
          <a:lstStyle/>
          <a:p>
            <a:endParaRPr lang="en-CH"/>
          </a:p>
        </p:txBody>
      </p:sp>
      <p:sp>
        <p:nvSpPr>
          <p:cNvPr id="80" name="text-12">
            <a:extLst>
              <a:ext uri="{FF2B5EF4-FFF2-40B4-BE49-F238E27FC236}">
                <a16:creationId xmlns:a16="http://schemas.microsoft.com/office/drawing/2014/main" id="{319D5CFA-3D6D-4BAC-8A62-4824B2B2C4E6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3A4A"/>
                </a:solidFill>
                <a:latin typeface="Arial"/>
                <a:ea typeface="Arial"/>
                <a:cs typeface="Arial"/>
              </a:rPr>
              <a:t>Voice Agent Architecture</a:t>
            </a:r>
          </a:p>
        </p:txBody>
      </p:sp>
      <p:sp>
        <p:nvSpPr>
          <p:cNvPr id="2" name="text-13">
            <a:extLst>
              <a:ext uri="{FF2B5EF4-FFF2-40B4-BE49-F238E27FC236}">
                <a16:creationId xmlns:a16="http://schemas.microsoft.com/office/drawing/2014/main" id="{767653E0-1263-4601-8899-1197E217C552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How sound becomes text, how the model produces an answer,</a:t>
            </a:r>
            <a:r>
              <a:rPr lang="en-US" sz="1875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and how that answer becomes speech.</a:t>
            </a:r>
          </a:p>
        </p:txBody>
      </p:sp>
      <p:sp>
        <p:nvSpPr>
          <p:cNvPr id="3" name="text-14">
            <a:extLst>
              <a:ext uri="{FF2B5EF4-FFF2-40B4-BE49-F238E27FC236}">
                <a16:creationId xmlns:a16="http://schemas.microsoft.com/office/drawing/2014/main" id="{539B68CC-D4AE-4345-A917-54BE254C2CDA}"/>
              </a:ext>
            </a:extLst>
          </p:cNvPr>
          <p:cNvSpPr>
            <a:spLocks noGrp="1"/>
          </p:cNvSpPr>
          <p:nvPr/>
        </p:nvSpPr>
        <p:spPr>
          <a:xfrm>
            <a:off x="11096625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diagram-15">
            <a:extLst>
              <a:ext uri="{FF2B5EF4-FFF2-40B4-BE49-F238E27FC236}">
                <a16:creationId xmlns:a16="http://schemas.microsoft.com/office/drawing/2014/main" id="{22B87D30-3E11-4F32-85BF-E195AF9E3778}"/>
              </a:ext>
            </a:extLst>
          </p:cNvPr>
          <p:cNvSpPr>
            <a:spLocks noGrp="1"/>
          </p:cNvSpPr>
          <p:nvPr/>
        </p:nvSpPr>
        <p:spPr>
          <a:xfrm>
            <a:off x="571500" y="2057400"/>
            <a:ext cx="2667000" cy="123825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  <p:txBody>
          <a:bodyPr/>
          <a:lstStyle/>
          <a:p>
            <a:endParaRPr lang="en-CH"/>
          </a:p>
        </p:txBody>
      </p:sp>
      <p:pic>
        <p:nvPicPr>
          <p:cNvPr id="84" name="Picture 8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2219325"/>
            <a:ext cx="285750" cy="285750"/>
          </a:xfrm>
          <a:prstGeom prst="rect">
            <a:avLst/>
          </a:prstGeom>
        </p:spPr>
      </p:pic>
      <p:sp>
        <p:nvSpPr>
          <p:cNvPr id="6" name="text-16">
            <a:extLst>
              <a:ext uri="{FF2B5EF4-FFF2-40B4-BE49-F238E27FC236}">
                <a16:creationId xmlns:a16="http://schemas.microsoft.com/office/drawing/2014/main" id="{646BF0D1-9C2B-4E3C-B457-878003C5747F}"/>
              </a:ext>
            </a:extLst>
          </p:cNvPr>
          <p:cNvSpPr>
            <a:spLocks noGrp="1"/>
          </p:cNvSpPr>
          <p:nvPr/>
        </p:nvSpPr>
        <p:spPr>
          <a:xfrm>
            <a:off x="1114425" y="2171700"/>
            <a:ext cx="19812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5  System </a:t>
            </a:r>
            <a:r>
              <a:rPr lang="en-US" sz="1800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P</a:t>
            </a:r>
            <a:r>
              <a:rPr sz="1800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rompt</a:t>
            </a:r>
          </a:p>
        </p:txBody>
      </p:sp>
      <p:sp>
        <p:nvSpPr>
          <p:cNvPr id="7" name="text-17">
            <a:extLst>
              <a:ext uri="{FF2B5EF4-FFF2-40B4-BE49-F238E27FC236}">
                <a16:creationId xmlns:a16="http://schemas.microsoft.com/office/drawing/2014/main" id="{AAF3C5E4-5B89-470E-AF90-01EB58785C56}"/>
              </a:ext>
            </a:extLst>
          </p:cNvPr>
          <p:cNvSpPr>
            <a:spLocks noGrp="1"/>
          </p:cNvSpPr>
          <p:nvPr/>
        </p:nvSpPr>
        <p:spPr>
          <a:xfrm>
            <a:off x="723900" y="2571750"/>
            <a:ext cx="23622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Behavior instructions</a:t>
            </a:r>
          </a:p>
        </p:txBody>
      </p:sp>
      <p:sp>
        <p:nvSpPr>
          <p:cNvPr id="8" name="diagram-18">
            <a:extLst>
              <a:ext uri="{FF2B5EF4-FFF2-40B4-BE49-F238E27FC236}">
                <a16:creationId xmlns:a16="http://schemas.microsoft.com/office/drawing/2014/main" id="{78087C3C-B6F5-47DE-B3D1-1B30AC737B20}"/>
              </a:ext>
            </a:extLst>
          </p:cNvPr>
          <p:cNvSpPr>
            <a:spLocks noGrp="1"/>
          </p:cNvSpPr>
          <p:nvPr/>
        </p:nvSpPr>
        <p:spPr>
          <a:xfrm>
            <a:off x="3886200" y="1895475"/>
            <a:ext cx="4419600" cy="14859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/>
          <a:lstStyle/>
          <a:p>
            <a:endParaRPr lang="en-CH"/>
          </a:p>
        </p:txBody>
      </p:sp>
      <p:pic>
        <p:nvPicPr>
          <p:cNvPr id="88" name="Picture 8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048125" y="2028825"/>
            <a:ext cx="285750" cy="285750"/>
          </a:xfrm>
          <a:prstGeom prst="rect">
            <a:avLst/>
          </a:prstGeom>
        </p:spPr>
      </p:pic>
      <p:sp>
        <p:nvSpPr>
          <p:cNvPr id="10" name="text-19">
            <a:extLst>
              <a:ext uri="{FF2B5EF4-FFF2-40B4-BE49-F238E27FC236}">
                <a16:creationId xmlns:a16="http://schemas.microsoft.com/office/drawing/2014/main" id="{38A3B207-CED5-4FD9-A41F-95245267F534}"/>
              </a:ext>
            </a:extLst>
          </p:cNvPr>
          <p:cNvSpPr>
            <a:spLocks noGrp="1"/>
          </p:cNvSpPr>
          <p:nvPr/>
        </p:nvSpPr>
        <p:spPr>
          <a:xfrm>
            <a:off x="4429125" y="1990725"/>
            <a:ext cx="368617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2  Model </a:t>
            </a:r>
            <a:r>
              <a:rPr lang="en-US" sz="1950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R</a:t>
            </a:r>
            <a:r>
              <a:rPr sz="1950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untime</a:t>
            </a:r>
          </a:p>
        </p:txBody>
      </p:sp>
      <p:sp>
        <p:nvSpPr>
          <p:cNvPr id="11" name="text-20">
            <a:extLst>
              <a:ext uri="{FF2B5EF4-FFF2-40B4-BE49-F238E27FC236}">
                <a16:creationId xmlns:a16="http://schemas.microsoft.com/office/drawing/2014/main" id="{593BB005-FBA8-4659-80B7-947836D20AB9}"/>
              </a:ext>
            </a:extLst>
          </p:cNvPr>
          <p:cNvSpPr>
            <a:spLocks noGrp="1"/>
          </p:cNvSpPr>
          <p:nvPr/>
        </p:nvSpPr>
        <p:spPr>
          <a:xfrm>
            <a:off x="4048125" y="2390775"/>
            <a:ext cx="40481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llama.cpp on CPU / GPU</a:t>
            </a:r>
          </a:p>
        </p:txBody>
      </p:sp>
      <p:sp>
        <p:nvSpPr>
          <p:cNvPr id="12" name="diagram-21">
            <a:extLst>
              <a:ext uri="{FF2B5EF4-FFF2-40B4-BE49-F238E27FC236}">
                <a16:creationId xmlns:a16="http://schemas.microsoft.com/office/drawing/2014/main" id="{30404D18-1317-4E79-8B8A-1243F4905A46}"/>
              </a:ext>
            </a:extLst>
          </p:cNvPr>
          <p:cNvSpPr>
            <a:spLocks noGrp="1"/>
          </p:cNvSpPr>
          <p:nvPr/>
        </p:nvSpPr>
        <p:spPr>
          <a:xfrm>
            <a:off x="4543425" y="2790825"/>
            <a:ext cx="3105150" cy="466725"/>
          </a:xfrm>
          <a:prstGeom prst="rect">
            <a:avLst/>
          </a:prstGeom>
          <a:solidFill>
            <a:srgbClr val="EEF5F6"/>
          </a:solidFill>
          <a:ln w="14288">
            <a:solidFill>
              <a:srgbClr val="B6C3CB"/>
            </a:solidFill>
          </a:ln>
        </p:spPr>
        <p:txBody>
          <a:bodyPr/>
          <a:lstStyle/>
          <a:p>
            <a:endParaRPr lang="en-CH"/>
          </a:p>
        </p:txBody>
      </p:sp>
      <p:pic>
        <p:nvPicPr>
          <p:cNvPr id="92" name="Picture 9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695825" y="2890837"/>
            <a:ext cx="285750" cy="285750"/>
          </a:xfrm>
          <a:prstGeom prst="rect">
            <a:avLst/>
          </a:prstGeom>
        </p:spPr>
      </p:pic>
      <p:sp>
        <p:nvSpPr>
          <p:cNvPr id="14" name="text-22">
            <a:extLst>
              <a:ext uri="{FF2B5EF4-FFF2-40B4-BE49-F238E27FC236}">
                <a16:creationId xmlns:a16="http://schemas.microsoft.com/office/drawing/2014/main" id="{059987EA-E174-458A-8597-F2BF1F13441B}"/>
              </a:ext>
            </a:extLst>
          </p:cNvPr>
          <p:cNvSpPr>
            <a:spLocks noGrp="1"/>
          </p:cNvSpPr>
          <p:nvPr/>
        </p:nvSpPr>
        <p:spPr>
          <a:xfrm>
            <a:off x="5086350" y="2843212"/>
            <a:ext cx="241935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1  Language </a:t>
            </a:r>
            <a:r>
              <a:rPr lang="en-US"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M</a:t>
            </a:r>
            <a:r>
              <a:rPr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odel</a:t>
            </a:r>
          </a:p>
        </p:txBody>
      </p:sp>
      <p:sp>
        <p:nvSpPr>
          <p:cNvPr id="15" name="diagram-23">
            <a:extLst>
              <a:ext uri="{FF2B5EF4-FFF2-40B4-BE49-F238E27FC236}">
                <a16:creationId xmlns:a16="http://schemas.microsoft.com/office/drawing/2014/main" id="{82694D4E-8D5E-4C81-BC58-F129C740C33C}"/>
              </a:ext>
            </a:extLst>
          </p:cNvPr>
          <p:cNvSpPr>
            <a:spLocks noGrp="1"/>
          </p:cNvSpPr>
          <p:nvPr/>
        </p:nvSpPr>
        <p:spPr>
          <a:xfrm>
            <a:off x="8953500" y="1924050"/>
            <a:ext cx="2667000" cy="148590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  <p:txBody>
          <a:bodyPr/>
          <a:lstStyle/>
          <a:p>
            <a:endParaRPr lang="en-CH"/>
          </a:p>
        </p:txBody>
      </p:sp>
      <p:sp>
        <p:nvSpPr>
          <p:cNvPr id="16" name="text-24">
            <a:extLst>
              <a:ext uri="{FF2B5EF4-FFF2-40B4-BE49-F238E27FC236}">
                <a16:creationId xmlns:a16="http://schemas.microsoft.com/office/drawing/2014/main" id="{416491D2-78AA-464E-98DF-803941BEDF68}"/>
              </a:ext>
            </a:extLst>
          </p:cNvPr>
          <p:cNvSpPr>
            <a:spLocks noGrp="1"/>
          </p:cNvSpPr>
          <p:nvPr/>
        </p:nvSpPr>
        <p:spPr>
          <a:xfrm>
            <a:off x="9105900" y="2038350"/>
            <a:ext cx="23622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A4A"/>
                </a:solidFill>
                <a:latin typeface="Arial"/>
                <a:ea typeface="Arial"/>
                <a:cs typeface="Arial"/>
              </a:rPr>
              <a:t>6  Memory</a:t>
            </a:r>
          </a:p>
        </p:txBody>
      </p:sp>
      <p:pic>
        <p:nvPicPr>
          <p:cNvPr id="96" name="Picture 95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115425" y="2409825"/>
            <a:ext cx="257175" cy="257175"/>
          </a:xfrm>
          <a:prstGeom prst="rect">
            <a:avLst/>
          </a:prstGeom>
        </p:spPr>
      </p:pic>
      <p:sp>
        <p:nvSpPr>
          <p:cNvPr id="18" name="text-25">
            <a:extLst>
              <a:ext uri="{FF2B5EF4-FFF2-40B4-BE49-F238E27FC236}">
                <a16:creationId xmlns:a16="http://schemas.microsoft.com/office/drawing/2014/main" id="{4C369FCA-64E7-441B-8DF5-D38C312F6D77}"/>
              </a:ext>
            </a:extLst>
          </p:cNvPr>
          <p:cNvSpPr>
            <a:spLocks noGrp="1"/>
          </p:cNvSpPr>
          <p:nvPr/>
        </p:nvSpPr>
        <p:spPr>
          <a:xfrm>
            <a:off x="9477375" y="2371725"/>
            <a:ext cx="20288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44B59"/>
                </a:solidFill>
                <a:latin typeface="Arial"/>
                <a:ea typeface="Arial"/>
                <a:cs typeface="Arial"/>
              </a:rPr>
              <a:t>Short-term dialogue</a:t>
            </a:r>
          </a:p>
        </p:txBody>
      </p:sp>
      <p:pic>
        <p:nvPicPr>
          <p:cNvPr id="98" name="Picture 97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115425" y="2847975"/>
            <a:ext cx="257175" cy="257175"/>
          </a:xfrm>
          <a:prstGeom prst="rect">
            <a:avLst/>
          </a:prstGeom>
        </p:spPr>
      </p:pic>
      <p:sp>
        <p:nvSpPr>
          <p:cNvPr id="20" name="text-26">
            <a:extLst>
              <a:ext uri="{FF2B5EF4-FFF2-40B4-BE49-F238E27FC236}">
                <a16:creationId xmlns:a16="http://schemas.microsoft.com/office/drawing/2014/main" id="{2C7E0E85-C46F-4E1A-86E2-53F6EFA836A3}"/>
              </a:ext>
            </a:extLst>
          </p:cNvPr>
          <p:cNvSpPr>
            <a:spLocks noGrp="1"/>
          </p:cNvSpPr>
          <p:nvPr/>
        </p:nvSpPr>
        <p:spPr>
          <a:xfrm>
            <a:off x="9477375" y="2809875"/>
            <a:ext cx="20288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44B59"/>
                </a:solidFill>
                <a:latin typeface="Arial"/>
                <a:ea typeface="Arial"/>
                <a:cs typeface="Arial"/>
              </a:rPr>
              <a:t>Long-term summary</a:t>
            </a:r>
          </a:p>
        </p:txBody>
      </p:sp>
      <p:sp>
        <p:nvSpPr>
          <p:cNvPr id="21" name="diagram-27">
            <a:extLst>
              <a:ext uri="{FF2B5EF4-FFF2-40B4-BE49-F238E27FC236}">
                <a16:creationId xmlns:a16="http://schemas.microsoft.com/office/drawing/2014/main" id="{7349E4C4-EB32-4D51-A008-697BD64EA759}"/>
              </a:ext>
            </a:extLst>
          </p:cNvPr>
          <p:cNvSpPr>
            <a:spLocks noGrp="1"/>
          </p:cNvSpPr>
          <p:nvPr/>
        </p:nvSpPr>
        <p:spPr>
          <a:xfrm>
            <a:off x="571500" y="4124325"/>
            <a:ext cx="2667000" cy="828675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  <p:txBody>
          <a:bodyPr/>
          <a:lstStyle/>
          <a:p>
            <a:endParaRPr lang="en-CH"/>
          </a:p>
        </p:txBody>
      </p:sp>
      <p:pic>
        <p:nvPicPr>
          <p:cNvPr id="101" name="Picture 100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23900" y="4286250"/>
            <a:ext cx="285750" cy="285750"/>
          </a:xfrm>
          <a:prstGeom prst="rect">
            <a:avLst/>
          </a:prstGeom>
        </p:spPr>
      </p:pic>
      <p:sp>
        <p:nvSpPr>
          <p:cNvPr id="23" name="text-28">
            <a:extLst>
              <a:ext uri="{FF2B5EF4-FFF2-40B4-BE49-F238E27FC236}">
                <a16:creationId xmlns:a16="http://schemas.microsoft.com/office/drawing/2014/main" id="{DE18372F-05ED-4F60-AFCA-6F77D45F05EF}"/>
              </a:ext>
            </a:extLst>
          </p:cNvPr>
          <p:cNvSpPr>
            <a:spLocks noGrp="1"/>
          </p:cNvSpPr>
          <p:nvPr/>
        </p:nvSpPr>
        <p:spPr>
          <a:xfrm>
            <a:off x="1114425" y="4238625"/>
            <a:ext cx="19812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3  Speech-to-</a:t>
            </a:r>
            <a:r>
              <a:rPr lang="en-US" sz="1800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T</a:t>
            </a:r>
            <a:r>
              <a:rPr sz="1800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ext</a:t>
            </a:r>
          </a:p>
        </p:txBody>
      </p:sp>
      <p:sp>
        <p:nvSpPr>
          <p:cNvPr id="24" name="text-29">
            <a:extLst>
              <a:ext uri="{FF2B5EF4-FFF2-40B4-BE49-F238E27FC236}">
                <a16:creationId xmlns:a16="http://schemas.microsoft.com/office/drawing/2014/main" id="{5F5A4325-A7B9-42AC-8F07-BD1C292B3608}"/>
              </a:ext>
            </a:extLst>
          </p:cNvPr>
          <p:cNvSpPr>
            <a:spLocks noGrp="1"/>
          </p:cNvSpPr>
          <p:nvPr/>
        </p:nvSpPr>
        <p:spPr>
          <a:xfrm>
            <a:off x="723900" y="4638675"/>
            <a:ext cx="23622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Moonshine ASR</a:t>
            </a:r>
          </a:p>
        </p:txBody>
      </p:sp>
      <p:sp>
        <p:nvSpPr>
          <p:cNvPr id="25" name="diagram-30">
            <a:extLst>
              <a:ext uri="{FF2B5EF4-FFF2-40B4-BE49-F238E27FC236}">
                <a16:creationId xmlns:a16="http://schemas.microsoft.com/office/drawing/2014/main" id="{0FAB33D2-2858-4ABD-A535-6A4029CB2EE4}"/>
              </a:ext>
            </a:extLst>
          </p:cNvPr>
          <p:cNvSpPr>
            <a:spLocks noGrp="1"/>
          </p:cNvSpPr>
          <p:nvPr/>
        </p:nvSpPr>
        <p:spPr>
          <a:xfrm>
            <a:off x="8953500" y="4124325"/>
            <a:ext cx="2667000" cy="828675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  <p:txBody>
          <a:bodyPr/>
          <a:lstStyle/>
          <a:p>
            <a:endParaRPr lang="en-CH"/>
          </a:p>
        </p:txBody>
      </p:sp>
      <p:pic>
        <p:nvPicPr>
          <p:cNvPr id="105" name="Picture 10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9105900" y="4286250"/>
            <a:ext cx="285750" cy="285750"/>
          </a:xfrm>
          <a:prstGeom prst="rect">
            <a:avLst/>
          </a:prstGeom>
        </p:spPr>
      </p:pic>
      <p:sp>
        <p:nvSpPr>
          <p:cNvPr id="27" name="text-31">
            <a:extLst>
              <a:ext uri="{FF2B5EF4-FFF2-40B4-BE49-F238E27FC236}">
                <a16:creationId xmlns:a16="http://schemas.microsoft.com/office/drawing/2014/main" id="{A9565894-2485-45B4-98B3-B9DAE697F96F}"/>
              </a:ext>
            </a:extLst>
          </p:cNvPr>
          <p:cNvSpPr>
            <a:spLocks noGrp="1"/>
          </p:cNvSpPr>
          <p:nvPr/>
        </p:nvSpPr>
        <p:spPr>
          <a:xfrm>
            <a:off x="9496425" y="4238625"/>
            <a:ext cx="19812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4  Text-to-</a:t>
            </a:r>
            <a:r>
              <a:rPr lang="en-US" sz="1800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S</a:t>
            </a:r>
            <a:r>
              <a:rPr sz="1800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peech</a:t>
            </a:r>
          </a:p>
        </p:txBody>
      </p:sp>
      <p:sp>
        <p:nvSpPr>
          <p:cNvPr id="28" name="text-32">
            <a:extLst>
              <a:ext uri="{FF2B5EF4-FFF2-40B4-BE49-F238E27FC236}">
                <a16:creationId xmlns:a16="http://schemas.microsoft.com/office/drawing/2014/main" id="{7C0CCFA2-EA36-44FE-B50A-E87BFC64CB45}"/>
              </a:ext>
            </a:extLst>
          </p:cNvPr>
          <p:cNvSpPr>
            <a:spLocks noGrp="1"/>
          </p:cNvSpPr>
          <p:nvPr/>
        </p:nvSpPr>
        <p:spPr>
          <a:xfrm>
            <a:off x="9105900" y="4638675"/>
            <a:ext cx="23622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Moonshine TTS</a:t>
            </a:r>
          </a:p>
        </p:txBody>
      </p:sp>
      <p:sp>
        <p:nvSpPr>
          <p:cNvPr id="29" name="diagram-33">
            <a:extLst>
              <a:ext uri="{FF2B5EF4-FFF2-40B4-BE49-F238E27FC236}">
                <a16:creationId xmlns:a16="http://schemas.microsoft.com/office/drawing/2014/main" id="{DE66DFAC-959A-4993-891D-0E80051B7B49}"/>
              </a:ext>
            </a:extLst>
          </p:cNvPr>
          <p:cNvSpPr>
            <a:spLocks noGrp="1"/>
          </p:cNvSpPr>
          <p:nvPr/>
        </p:nvSpPr>
        <p:spPr>
          <a:xfrm>
            <a:off x="3800475" y="4010025"/>
            <a:ext cx="4591050" cy="1057275"/>
          </a:xfrm>
          <a:prstGeom prst="rect">
            <a:avLst/>
          </a:prstGeom>
          <a:solidFill>
            <a:srgbClr val="EEF5F6"/>
          </a:solidFill>
          <a:ln w="19050">
            <a:solidFill>
              <a:schemeClr val="tx1"/>
            </a:solidFill>
          </a:ln>
        </p:spPr>
        <p:txBody>
          <a:bodyPr/>
          <a:lstStyle/>
          <a:p>
            <a:endParaRPr lang="en-CH"/>
          </a:p>
        </p:txBody>
      </p:sp>
      <p:pic>
        <p:nvPicPr>
          <p:cNvPr id="109" name="Picture 108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3981450" y="4162425"/>
            <a:ext cx="333375" cy="333375"/>
          </a:xfrm>
          <a:prstGeom prst="rect">
            <a:avLst/>
          </a:prstGeom>
        </p:spPr>
      </p:pic>
      <p:sp>
        <p:nvSpPr>
          <p:cNvPr id="31" name="text-34">
            <a:extLst>
              <a:ext uri="{FF2B5EF4-FFF2-40B4-BE49-F238E27FC236}">
                <a16:creationId xmlns:a16="http://schemas.microsoft.com/office/drawing/2014/main" id="{EE86082A-CFFB-4EE2-BA3A-5FFFC84E94DF}"/>
              </a:ext>
            </a:extLst>
          </p:cNvPr>
          <p:cNvSpPr>
            <a:spLocks noGrp="1"/>
          </p:cNvSpPr>
          <p:nvPr/>
        </p:nvSpPr>
        <p:spPr>
          <a:xfrm>
            <a:off x="4467225" y="4105275"/>
            <a:ext cx="3781425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8  Harness and </a:t>
            </a:r>
            <a:r>
              <a:rPr lang="en-US"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T</a:t>
            </a:r>
            <a:r>
              <a:rPr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ools</a:t>
            </a:r>
          </a:p>
        </p:txBody>
      </p:sp>
      <p:sp>
        <p:nvSpPr>
          <p:cNvPr id="32" name="text-35">
            <a:extLst>
              <a:ext uri="{FF2B5EF4-FFF2-40B4-BE49-F238E27FC236}">
                <a16:creationId xmlns:a16="http://schemas.microsoft.com/office/drawing/2014/main" id="{F2EDA523-894C-4BEC-8003-3CDB87C6D8AC}"/>
              </a:ext>
            </a:extLst>
          </p:cNvPr>
          <p:cNvSpPr>
            <a:spLocks noGrp="1"/>
          </p:cNvSpPr>
          <p:nvPr/>
        </p:nvSpPr>
        <p:spPr>
          <a:xfrm>
            <a:off x="3990975" y="4505325"/>
            <a:ext cx="42291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lang="en-US" sz="1650" b="0" dirty="0">
                <a:solidFill>
                  <a:srgbClr val="344B59"/>
                </a:solidFill>
                <a:latin typeface="Arial"/>
                <a:ea typeface="Arial"/>
                <a:cs typeface="Arial"/>
              </a:rPr>
              <a:t>Manages</a:t>
            </a:r>
            <a:r>
              <a:rPr sz="1650" b="0" dirty="0">
                <a:solidFill>
                  <a:srgbClr val="344B59"/>
                </a:solidFill>
                <a:latin typeface="Arial"/>
                <a:ea typeface="Arial"/>
                <a:cs typeface="Arial"/>
              </a:rPr>
              <a:t> turns and confirms delivery</a:t>
            </a:r>
          </a:p>
        </p:txBody>
      </p:sp>
      <p:sp>
        <p:nvSpPr>
          <p:cNvPr id="33" name="text-36">
            <a:extLst>
              <a:ext uri="{FF2B5EF4-FFF2-40B4-BE49-F238E27FC236}">
                <a16:creationId xmlns:a16="http://schemas.microsoft.com/office/drawing/2014/main" id="{52B90E34-7C31-4D21-81BF-A24871F621D3}"/>
              </a:ext>
            </a:extLst>
          </p:cNvPr>
          <p:cNvSpPr>
            <a:spLocks noGrp="1"/>
          </p:cNvSpPr>
          <p:nvPr/>
        </p:nvSpPr>
        <p:spPr>
          <a:xfrm>
            <a:off x="3990975" y="4810125"/>
            <a:ext cx="42291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lang="en-US" sz="1575" b="0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Privileges: </a:t>
            </a:r>
            <a:r>
              <a:rPr sz="1575" b="0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Exact commands / read-only files</a:t>
            </a:r>
          </a:p>
        </p:txBody>
      </p:sp>
      <p:pic>
        <p:nvPicPr>
          <p:cNvPr id="113" name="Picture 112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4248150" y="5500688"/>
            <a:ext cx="295275" cy="295275"/>
          </a:xfrm>
          <a:prstGeom prst="rect">
            <a:avLst/>
          </a:prstGeom>
        </p:spPr>
      </p:pic>
      <p:sp>
        <p:nvSpPr>
          <p:cNvPr id="35" name="text-37">
            <a:extLst>
              <a:ext uri="{FF2B5EF4-FFF2-40B4-BE49-F238E27FC236}">
                <a16:creationId xmlns:a16="http://schemas.microsoft.com/office/drawing/2014/main" id="{AEE537CF-078E-4C25-9818-A17BDC5DDF4A}"/>
              </a:ext>
            </a:extLst>
          </p:cNvPr>
          <p:cNvSpPr>
            <a:spLocks noGrp="1"/>
          </p:cNvSpPr>
          <p:nvPr/>
        </p:nvSpPr>
        <p:spPr>
          <a:xfrm>
            <a:off x="4714875" y="5476875"/>
            <a:ext cx="35337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7  Barge-in</a:t>
            </a:r>
          </a:p>
        </p:txBody>
      </p:sp>
      <p:sp>
        <p:nvSpPr>
          <p:cNvPr id="36" name="text-38">
            <a:extLst>
              <a:ext uri="{FF2B5EF4-FFF2-40B4-BE49-F238E27FC236}">
                <a16:creationId xmlns:a16="http://schemas.microsoft.com/office/drawing/2014/main" id="{5ABAB49A-BF42-4DF6-B879-3E1C1FC4BB3C}"/>
              </a:ext>
            </a:extLst>
          </p:cNvPr>
          <p:cNvSpPr>
            <a:spLocks noGrp="1"/>
          </p:cNvSpPr>
          <p:nvPr/>
        </p:nvSpPr>
        <p:spPr>
          <a:xfrm>
            <a:off x="4098925" y="5835650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344B59"/>
                </a:solidFill>
                <a:latin typeface="Arial"/>
                <a:ea typeface="Arial"/>
                <a:cs typeface="Arial"/>
              </a:rPr>
              <a:t>Cancel old work and accept the newest utterance</a:t>
            </a:r>
          </a:p>
        </p:txBody>
      </p:sp>
      <p:sp>
        <p:nvSpPr>
          <p:cNvPr id="37" name="diagram-39">
            <a:extLst>
              <a:ext uri="{FF2B5EF4-FFF2-40B4-BE49-F238E27FC236}">
                <a16:creationId xmlns:a16="http://schemas.microsoft.com/office/drawing/2014/main" id="{0DEC6EC4-0143-43F5-8C7C-B32FD4A8F77A}"/>
              </a:ext>
            </a:extLst>
          </p:cNvPr>
          <p:cNvSpPr>
            <a:spLocks noGrp="1"/>
          </p:cNvSpPr>
          <p:nvPr/>
        </p:nvSpPr>
        <p:spPr>
          <a:xfrm>
            <a:off x="3233738" y="45196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38" name="diagram-40">
            <a:extLst>
              <a:ext uri="{FF2B5EF4-FFF2-40B4-BE49-F238E27FC236}">
                <a16:creationId xmlns:a16="http://schemas.microsoft.com/office/drawing/2014/main" id="{391F228D-E8D8-4A0C-A18E-0E982D2C0B1A}"/>
              </a:ext>
            </a:extLst>
          </p:cNvPr>
          <p:cNvSpPr>
            <a:spLocks noGrp="1"/>
          </p:cNvSpPr>
          <p:nvPr/>
        </p:nvSpPr>
        <p:spPr>
          <a:xfrm>
            <a:off x="3795713" y="45196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118" name="Straight Arrow Connector 117"/>
          <p:cNvCxnSpPr>
            <a:stCxn id="37" idx="3"/>
            <a:endCxn id="38" idx="1"/>
          </p:cNvCxnSpPr>
          <p:nvPr/>
        </p:nvCxnSpPr>
        <p:spPr>
          <a:xfrm>
            <a:off x="3243263" y="4524376"/>
            <a:ext cx="552450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 w="sm" len="sm"/>
          </a:ln>
        </p:spPr>
      </p:cxnSp>
      <p:sp>
        <p:nvSpPr>
          <p:cNvPr id="40" name="text-41">
            <a:extLst>
              <a:ext uri="{FF2B5EF4-FFF2-40B4-BE49-F238E27FC236}">
                <a16:creationId xmlns:a16="http://schemas.microsoft.com/office/drawing/2014/main" id="{AF69CC97-F890-4B1B-A0F3-31885D501F0D}"/>
              </a:ext>
            </a:extLst>
          </p:cNvPr>
          <p:cNvSpPr>
            <a:spLocks noGrp="1"/>
          </p:cNvSpPr>
          <p:nvPr/>
        </p:nvSpPr>
        <p:spPr>
          <a:xfrm>
            <a:off x="3286125" y="4171950"/>
            <a:ext cx="4667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41" name="diagram-42">
            <a:extLst>
              <a:ext uri="{FF2B5EF4-FFF2-40B4-BE49-F238E27FC236}">
                <a16:creationId xmlns:a16="http://schemas.microsoft.com/office/drawing/2014/main" id="{B51699AC-201A-4C2B-B438-9E70AC04C24C}"/>
              </a:ext>
            </a:extLst>
          </p:cNvPr>
          <p:cNvSpPr>
            <a:spLocks noGrp="1"/>
          </p:cNvSpPr>
          <p:nvPr/>
        </p:nvSpPr>
        <p:spPr>
          <a:xfrm>
            <a:off x="8386763" y="45196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42" name="diagram-43">
            <a:extLst>
              <a:ext uri="{FF2B5EF4-FFF2-40B4-BE49-F238E27FC236}">
                <a16:creationId xmlns:a16="http://schemas.microsoft.com/office/drawing/2014/main" id="{E0273F32-E54D-41A7-99E3-8175D9D4CB83}"/>
              </a:ext>
            </a:extLst>
          </p:cNvPr>
          <p:cNvSpPr>
            <a:spLocks noGrp="1"/>
          </p:cNvSpPr>
          <p:nvPr/>
        </p:nvSpPr>
        <p:spPr>
          <a:xfrm>
            <a:off x="8948738" y="45196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122" name="Straight Arrow Connector 121"/>
          <p:cNvCxnSpPr>
            <a:stCxn id="41" idx="3"/>
            <a:endCxn id="42" idx="1"/>
          </p:cNvCxnSpPr>
          <p:nvPr/>
        </p:nvCxnSpPr>
        <p:spPr>
          <a:xfrm>
            <a:off x="8396288" y="4524376"/>
            <a:ext cx="552450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 w="sm" len="sm"/>
          </a:ln>
        </p:spPr>
      </p:cxnSp>
      <p:sp>
        <p:nvSpPr>
          <p:cNvPr id="44" name="text-44">
            <a:extLst>
              <a:ext uri="{FF2B5EF4-FFF2-40B4-BE49-F238E27FC236}">
                <a16:creationId xmlns:a16="http://schemas.microsoft.com/office/drawing/2014/main" id="{346C01F3-F3D0-40AB-95D9-8E6CB2E3FE90}"/>
              </a:ext>
            </a:extLst>
          </p:cNvPr>
          <p:cNvSpPr>
            <a:spLocks noGrp="1"/>
          </p:cNvSpPr>
          <p:nvPr/>
        </p:nvSpPr>
        <p:spPr>
          <a:xfrm>
            <a:off x="8439150" y="4171950"/>
            <a:ext cx="4667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45" name="diagram-45">
            <a:extLst>
              <a:ext uri="{FF2B5EF4-FFF2-40B4-BE49-F238E27FC236}">
                <a16:creationId xmlns:a16="http://schemas.microsoft.com/office/drawing/2014/main" id="{A5927841-1DC7-4E0A-88C3-26C47DCA031B}"/>
              </a:ext>
            </a:extLst>
          </p:cNvPr>
          <p:cNvSpPr>
            <a:spLocks noGrp="1"/>
          </p:cNvSpPr>
          <p:nvPr/>
        </p:nvSpPr>
        <p:spPr>
          <a:xfrm>
            <a:off x="3233738" y="26622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46" name="diagram-46">
            <a:extLst>
              <a:ext uri="{FF2B5EF4-FFF2-40B4-BE49-F238E27FC236}">
                <a16:creationId xmlns:a16="http://schemas.microsoft.com/office/drawing/2014/main" id="{EA9F288F-EC3D-4467-B615-F34E2F49F2FD}"/>
              </a:ext>
            </a:extLst>
          </p:cNvPr>
          <p:cNvSpPr>
            <a:spLocks noGrp="1"/>
          </p:cNvSpPr>
          <p:nvPr/>
        </p:nvSpPr>
        <p:spPr>
          <a:xfrm>
            <a:off x="3538538" y="26622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126" name="Straight Arrow Connector 125"/>
          <p:cNvCxnSpPr>
            <a:stCxn id="45" idx="3"/>
            <a:endCxn id="46" idx="1"/>
          </p:cNvCxnSpPr>
          <p:nvPr/>
        </p:nvCxnSpPr>
        <p:spPr>
          <a:xfrm>
            <a:off x="3243263" y="2667001"/>
            <a:ext cx="295275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</a:ln>
        </p:spPr>
      </p:cxnSp>
      <p:sp>
        <p:nvSpPr>
          <p:cNvPr id="48" name="diagram-47">
            <a:extLst>
              <a:ext uri="{FF2B5EF4-FFF2-40B4-BE49-F238E27FC236}">
                <a16:creationId xmlns:a16="http://schemas.microsoft.com/office/drawing/2014/main" id="{AF817BD7-3AAA-4BDF-BFED-37329AE57691}"/>
              </a:ext>
            </a:extLst>
          </p:cNvPr>
          <p:cNvSpPr>
            <a:spLocks noGrp="1"/>
          </p:cNvSpPr>
          <p:nvPr/>
        </p:nvSpPr>
        <p:spPr>
          <a:xfrm>
            <a:off x="3538538" y="26622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49" name="diagram-48">
            <a:extLst>
              <a:ext uri="{FF2B5EF4-FFF2-40B4-BE49-F238E27FC236}">
                <a16:creationId xmlns:a16="http://schemas.microsoft.com/office/drawing/2014/main" id="{83DAFA4D-C95D-4F4A-996B-B18BA10B3FA0}"/>
              </a:ext>
            </a:extLst>
          </p:cNvPr>
          <p:cNvSpPr>
            <a:spLocks noGrp="1"/>
          </p:cNvSpPr>
          <p:nvPr/>
        </p:nvSpPr>
        <p:spPr>
          <a:xfrm>
            <a:off x="3538538" y="36909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129" name="Straight Arrow Connector 128"/>
          <p:cNvCxnSpPr>
            <a:stCxn id="48" idx="2"/>
            <a:endCxn id="49" idx="0"/>
          </p:cNvCxnSpPr>
          <p:nvPr/>
        </p:nvCxnSpPr>
        <p:spPr>
          <a:xfrm>
            <a:off x="3543301" y="2671763"/>
            <a:ext cx="0" cy="1019175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</a:ln>
        </p:spPr>
      </p:cxnSp>
      <p:sp>
        <p:nvSpPr>
          <p:cNvPr id="51" name="diagram-49">
            <a:extLst>
              <a:ext uri="{FF2B5EF4-FFF2-40B4-BE49-F238E27FC236}">
                <a16:creationId xmlns:a16="http://schemas.microsoft.com/office/drawing/2014/main" id="{E4041356-F7B5-4BB1-9FE0-C9ED87DF1E68}"/>
              </a:ext>
            </a:extLst>
          </p:cNvPr>
          <p:cNvSpPr>
            <a:spLocks noGrp="1"/>
          </p:cNvSpPr>
          <p:nvPr/>
        </p:nvSpPr>
        <p:spPr>
          <a:xfrm>
            <a:off x="3538538" y="36909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52" name="diagram-50">
            <a:extLst>
              <a:ext uri="{FF2B5EF4-FFF2-40B4-BE49-F238E27FC236}">
                <a16:creationId xmlns:a16="http://schemas.microsoft.com/office/drawing/2014/main" id="{48B4F6E0-144D-4C15-8D02-6BFFF57B3BDC}"/>
              </a:ext>
            </a:extLst>
          </p:cNvPr>
          <p:cNvSpPr>
            <a:spLocks noGrp="1"/>
          </p:cNvSpPr>
          <p:nvPr/>
        </p:nvSpPr>
        <p:spPr>
          <a:xfrm>
            <a:off x="4376738" y="36909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132" name="Straight Arrow Connector 131"/>
          <p:cNvCxnSpPr>
            <a:stCxn id="51" idx="3"/>
            <a:endCxn id="52" idx="1"/>
          </p:cNvCxnSpPr>
          <p:nvPr/>
        </p:nvCxnSpPr>
        <p:spPr>
          <a:xfrm>
            <a:off x="3548063" y="3695701"/>
            <a:ext cx="828675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</a:ln>
        </p:spPr>
      </p:cxnSp>
      <p:sp>
        <p:nvSpPr>
          <p:cNvPr id="54" name="diagram-51">
            <a:extLst>
              <a:ext uri="{FF2B5EF4-FFF2-40B4-BE49-F238E27FC236}">
                <a16:creationId xmlns:a16="http://schemas.microsoft.com/office/drawing/2014/main" id="{D1FA3B89-F246-4C31-8DDB-473A8EC16B74}"/>
              </a:ext>
            </a:extLst>
          </p:cNvPr>
          <p:cNvSpPr>
            <a:spLocks noGrp="1"/>
          </p:cNvSpPr>
          <p:nvPr/>
        </p:nvSpPr>
        <p:spPr>
          <a:xfrm>
            <a:off x="4376738" y="36909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55" name="diagram-52">
            <a:extLst>
              <a:ext uri="{FF2B5EF4-FFF2-40B4-BE49-F238E27FC236}">
                <a16:creationId xmlns:a16="http://schemas.microsoft.com/office/drawing/2014/main" id="{A5B57D32-D387-420B-B463-113CCF2EBB0D}"/>
              </a:ext>
            </a:extLst>
          </p:cNvPr>
          <p:cNvSpPr>
            <a:spLocks noGrp="1"/>
          </p:cNvSpPr>
          <p:nvPr/>
        </p:nvSpPr>
        <p:spPr>
          <a:xfrm>
            <a:off x="4376738" y="40052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135" name="Straight Arrow Connector 134"/>
          <p:cNvCxnSpPr>
            <a:stCxn id="54" idx="2"/>
            <a:endCxn id="55" idx="0"/>
          </p:cNvCxnSpPr>
          <p:nvPr/>
        </p:nvCxnSpPr>
        <p:spPr>
          <a:xfrm>
            <a:off x="4381501" y="3700463"/>
            <a:ext cx="0" cy="30480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sm" len="sm"/>
          </a:ln>
        </p:spPr>
      </p:cxnSp>
      <p:sp>
        <p:nvSpPr>
          <p:cNvPr id="57" name="diagram-53">
            <a:extLst>
              <a:ext uri="{FF2B5EF4-FFF2-40B4-BE49-F238E27FC236}">
                <a16:creationId xmlns:a16="http://schemas.microsoft.com/office/drawing/2014/main" id="{5CB0085A-BE6E-4F5B-B968-583570A05494}"/>
              </a:ext>
            </a:extLst>
          </p:cNvPr>
          <p:cNvSpPr>
            <a:spLocks noGrp="1"/>
          </p:cNvSpPr>
          <p:nvPr/>
        </p:nvSpPr>
        <p:spPr>
          <a:xfrm>
            <a:off x="8948738" y="26622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58" name="diagram-54">
            <a:extLst>
              <a:ext uri="{FF2B5EF4-FFF2-40B4-BE49-F238E27FC236}">
                <a16:creationId xmlns:a16="http://schemas.microsoft.com/office/drawing/2014/main" id="{DDF897E6-756D-4B9C-B3E1-89F46EB6904E}"/>
              </a:ext>
            </a:extLst>
          </p:cNvPr>
          <p:cNvSpPr>
            <a:spLocks noGrp="1"/>
          </p:cNvSpPr>
          <p:nvPr/>
        </p:nvSpPr>
        <p:spPr>
          <a:xfrm>
            <a:off x="8643938" y="26622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138" name="Straight Arrow Connector 137"/>
          <p:cNvCxnSpPr>
            <a:stCxn id="57" idx="1"/>
            <a:endCxn id="58" idx="3"/>
          </p:cNvCxnSpPr>
          <p:nvPr/>
        </p:nvCxnSpPr>
        <p:spPr>
          <a:xfrm flipH="1">
            <a:off x="8653463" y="2667001"/>
            <a:ext cx="295275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</a:ln>
        </p:spPr>
      </p:cxnSp>
      <p:sp>
        <p:nvSpPr>
          <p:cNvPr id="60" name="diagram-55">
            <a:extLst>
              <a:ext uri="{FF2B5EF4-FFF2-40B4-BE49-F238E27FC236}">
                <a16:creationId xmlns:a16="http://schemas.microsoft.com/office/drawing/2014/main" id="{FE5FCE29-0335-4A2E-8BF6-6F2A3401DAE9}"/>
              </a:ext>
            </a:extLst>
          </p:cNvPr>
          <p:cNvSpPr>
            <a:spLocks noGrp="1"/>
          </p:cNvSpPr>
          <p:nvPr/>
        </p:nvSpPr>
        <p:spPr>
          <a:xfrm>
            <a:off x="8643938" y="26622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61" name="diagram-56">
            <a:extLst>
              <a:ext uri="{FF2B5EF4-FFF2-40B4-BE49-F238E27FC236}">
                <a16:creationId xmlns:a16="http://schemas.microsoft.com/office/drawing/2014/main" id="{4404CDC9-85E0-4564-8D00-1A77EDCAF3D3}"/>
              </a:ext>
            </a:extLst>
          </p:cNvPr>
          <p:cNvSpPr>
            <a:spLocks noGrp="1"/>
          </p:cNvSpPr>
          <p:nvPr/>
        </p:nvSpPr>
        <p:spPr>
          <a:xfrm>
            <a:off x="8643938" y="36909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141" name="Straight Arrow Connector 140"/>
          <p:cNvCxnSpPr>
            <a:stCxn id="60" idx="2"/>
            <a:endCxn id="61" idx="0"/>
          </p:cNvCxnSpPr>
          <p:nvPr/>
        </p:nvCxnSpPr>
        <p:spPr>
          <a:xfrm>
            <a:off x="8648701" y="2671763"/>
            <a:ext cx="0" cy="1019175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</a:ln>
        </p:spPr>
      </p:cxnSp>
      <p:sp>
        <p:nvSpPr>
          <p:cNvPr id="63" name="diagram-57">
            <a:extLst>
              <a:ext uri="{FF2B5EF4-FFF2-40B4-BE49-F238E27FC236}">
                <a16:creationId xmlns:a16="http://schemas.microsoft.com/office/drawing/2014/main" id="{24EB9151-7D48-461B-8A7D-86888A822958}"/>
              </a:ext>
            </a:extLst>
          </p:cNvPr>
          <p:cNvSpPr>
            <a:spLocks noGrp="1"/>
          </p:cNvSpPr>
          <p:nvPr/>
        </p:nvSpPr>
        <p:spPr>
          <a:xfrm>
            <a:off x="8643938" y="36909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64" name="diagram-58">
            <a:extLst>
              <a:ext uri="{FF2B5EF4-FFF2-40B4-BE49-F238E27FC236}">
                <a16:creationId xmlns:a16="http://schemas.microsoft.com/office/drawing/2014/main" id="{BB36FAA9-B57E-4056-A067-2B4C497032C9}"/>
              </a:ext>
            </a:extLst>
          </p:cNvPr>
          <p:cNvSpPr>
            <a:spLocks noGrp="1"/>
          </p:cNvSpPr>
          <p:nvPr/>
        </p:nvSpPr>
        <p:spPr>
          <a:xfrm>
            <a:off x="7805738" y="36909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144" name="Straight Arrow Connector 143"/>
          <p:cNvCxnSpPr>
            <a:stCxn id="63" idx="1"/>
            <a:endCxn id="64" idx="3"/>
          </p:cNvCxnSpPr>
          <p:nvPr/>
        </p:nvCxnSpPr>
        <p:spPr>
          <a:xfrm flipH="1">
            <a:off x="7815263" y="3695701"/>
            <a:ext cx="828675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</a:ln>
        </p:spPr>
      </p:cxnSp>
      <p:sp>
        <p:nvSpPr>
          <p:cNvPr id="66" name="diagram-59">
            <a:extLst>
              <a:ext uri="{FF2B5EF4-FFF2-40B4-BE49-F238E27FC236}">
                <a16:creationId xmlns:a16="http://schemas.microsoft.com/office/drawing/2014/main" id="{FC38F582-59EB-480E-9216-DA1AAA9E7777}"/>
              </a:ext>
            </a:extLst>
          </p:cNvPr>
          <p:cNvSpPr>
            <a:spLocks noGrp="1"/>
          </p:cNvSpPr>
          <p:nvPr/>
        </p:nvSpPr>
        <p:spPr>
          <a:xfrm>
            <a:off x="7805738" y="36909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67" name="diagram-60">
            <a:extLst>
              <a:ext uri="{FF2B5EF4-FFF2-40B4-BE49-F238E27FC236}">
                <a16:creationId xmlns:a16="http://schemas.microsoft.com/office/drawing/2014/main" id="{4A6E1594-772E-43F5-B033-C612D75CE32B}"/>
              </a:ext>
            </a:extLst>
          </p:cNvPr>
          <p:cNvSpPr>
            <a:spLocks noGrp="1"/>
          </p:cNvSpPr>
          <p:nvPr/>
        </p:nvSpPr>
        <p:spPr>
          <a:xfrm>
            <a:off x="7805738" y="40052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147" name="Straight Arrow Connector 146"/>
          <p:cNvCxnSpPr>
            <a:stCxn id="66" idx="2"/>
            <a:endCxn id="67" idx="0"/>
          </p:cNvCxnSpPr>
          <p:nvPr/>
        </p:nvCxnSpPr>
        <p:spPr>
          <a:xfrm>
            <a:off x="7810501" y="3700463"/>
            <a:ext cx="0" cy="30480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sm" len="sm"/>
          </a:ln>
        </p:spPr>
      </p:cxnSp>
      <p:sp>
        <p:nvSpPr>
          <p:cNvPr id="69" name="diagram-61">
            <a:extLst>
              <a:ext uri="{FF2B5EF4-FFF2-40B4-BE49-F238E27FC236}">
                <a16:creationId xmlns:a16="http://schemas.microsoft.com/office/drawing/2014/main" id="{C8D8279D-B864-4B7A-B900-AFAD024F46DB}"/>
              </a:ext>
            </a:extLst>
          </p:cNvPr>
          <p:cNvSpPr>
            <a:spLocks noGrp="1"/>
          </p:cNvSpPr>
          <p:nvPr/>
        </p:nvSpPr>
        <p:spPr>
          <a:xfrm>
            <a:off x="5815013" y="40052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70" name="diagram-62">
            <a:extLst>
              <a:ext uri="{FF2B5EF4-FFF2-40B4-BE49-F238E27FC236}">
                <a16:creationId xmlns:a16="http://schemas.microsoft.com/office/drawing/2014/main" id="{662E832A-8D2B-4509-8215-32670C376464}"/>
              </a:ext>
            </a:extLst>
          </p:cNvPr>
          <p:cNvSpPr>
            <a:spLocks noGrp="1"/>
          </p:cNvSpPr>
          <p:nvPr/>
        </p:nvSpPr>
        <p:spPr>
          <a:xfrm>
            <a:off x="5815013" y="34051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150" name="Straight Arrow Connector 149"/>
          <p:cNvCxnSpPr>
            <a:stCxn id="69" idx="0"/>
            <a:endCxn id="70" idx="2"/>
          </p:cNvCxnSpPr>
          <p:nvPr/>
        </p:nvCxnSpPr>
        <p:spPr>
          <a:xfrm flipV="1">
            <a:off x="5819776" y="3414713"/>
            <a:ext cx="0" cy="59055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 w="sm" len="sm"/>
          </a:ln>
        </p:spPr>
      </p:cxnSp>
      <p:sp>
        <p:nvSpPr>
          <p:cNvPr id="72" name="text-63">
            <a:extLst>
              <a:ext uri="{FF2B5EF4-FFF2-40B4-BE49-F238E27FC236}">
                <a16:creationId xmlns:a16="http://schemas.microsoft.com/office/drawing/2014/main" id="{36E0C5C1-4EBC-4690-AD6D-434122AE563F}"/>
              </a:ext>
            </a:extLst>
          </p:cNvPr>
          <p:cNvSpPr>
            <a:spLocks noGrp="1"/>
          </p:cNvSpPr>
          <p:nvPr/>
        </p:nvSpPr>
        <p:spPr>
          <a:xfrm>
            <a:off x="4676775" y="3543300"/>
            <a:ext cx="9810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73" name="diagram-64">
            <a:extLst>
              <a:ext uri="{FF2B5EF4-FFF2-40B4-BE49-F238E27FC236}">
                <a16:creationId xmlns:a16="http://schemas.microsoft.com/office/drawing/2014/main" id="{43EABFD8-AC08-4DF8-8E02-B01E832452F3}"/>
              </a:ext>
            </a:extLst>
          </p:cNvPr>
          <p:cNvSpPr>
            <a:spLocks noGrp="1"/>
          </p:cNvSpPr>
          <p:nvPr/>
        </p:nvSpPr>
        <p:spPr>
          <a:xfrm>
            <a:off x="6386513" y="34051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74" name="diagram-65">
            <a:extLst>
              <a:ext uri="{FF2B5EF4-FFF2-40B4-BE49-F238E27FC236}">
                <a16:creationId xmlns:a16="http://schemas.microsoft.com/office/drawing/2014/main" id="{2ECFEDFC-DE35-450C-8998-E54753502164}"/>
              </a:ext>
            </a:extLst>
          </p:cNvPr>
          <p:cNvSpPr>
            <a:spLocks noGrp="1"/>
          </p:cNvSpPr>
          <p:nvPr/>
        </p:nvSpPr>
        <p:spPr>
          <a:xfrm>
            <a:off x="6386513" y="40052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154" name="Straight Arrow Connector 153"/>
          <p:cNvCxnSpPr>
            <a:stCxn id="73" idx="2"/>
            <a:endCxn id="74" idx="0"/>
          </p:cNvCxnSpPr>
          <p:nvPr/>
        </p:nvCxnSpPr>
        <p:spPr>
          <a:xfrm>
            <a:off x="6391276" y="3414713"/>
            <a:ext cx="0" cy="59055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 w="sm" len="sm"/>
          </a:ln>
        </p:spPr>
      </p:cxnSp>
      <p:sp>
        <p:nvSpPr>
          <p:cNvPr id="76" name="text-66">
            <a:extLst>
              <a:ext uri="{FF2B5EF4-FFF2-40B4-BE49-F238E27FC236}">
                <a16:creationId xmlns:a16="http://schemas.microsoft.com/office/drawing/2014/main" id="{98D36787-AD07-4351-A4F5-E635974206B5}"/>
              </a:ext>
            </a:extLst>
          </p:cNvPr>
          <p:cNvSpPr>
            <a:spLocks noGrp="1"/>
          </p:cNvSpPr>
          <p:nvPr/>
        </p:nvSpPr>
        <p:spPr>
          <a:xfrm>
            <a:off x="6553200" y="3543300"/>
            <a:ext cx="8763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reply</a:t>
            </a:r>
          </a:p>
        </p:txBody>
      </p:sp>
      <p:sp>
        <p:nvSpPr>
          <p:cNvPr id="77" name="diagram-67">
            <a:extLst>
              <a:ext uri="{FF2B5EF4-FFF2-40B4-BE49-F238E27FC236}">
                <a16:creationId xmlns:a16="http://schemas.microsoft.com/office/drawing/2014/main" id="{2628DDD5-D9D4-4448-A321-6891AB7B27E3}"/>
              </a:ext>
            </a:extLst>
          </p:cNvPr>
          <p:cNvSpPr>
            <a:spLocks noGrp="1"/>
          </p:cNvSpPr>
          <p:nvPr/>
        </p:nvSpPr>
        <p:spPr>
          <a:xfrm>
            <a:off x="6081713" y="54054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78" name="diagram-68">
            <a:extLst>
              <a:ext uri="{FF2B5EF4-FFF2-40B4-BE49-F238E27FC236}">
                <a16:creationId xmlns:a16="http://schemas.microsoft.com/office/drawing/2014/main" id="{D16C0DF8-A075-4B46-A4F7-DDBB98807500}"/>
              </a:ext>
            </a:extLst>
          </p:cNvPr>
          <p:cNvSpPr>
            <a:spLocks noGrp="1"/>
          </p:cNvSpPr>
          <p:nvPr/>
        </p:nvSpPr>
        <p:spPr>
          <a:xfrm>
            <a:off x="6081713" y="51006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158" name="Straight Arrow Connector 157"/>
          <p:cNvCxnSpPr>
            <a:stCxn id="77" idx="0"/>
            <a:endCxn id="78" idx="2"/>
          </p:cNvCxnSpPr>
          <p:nvPr/>
        </p:nvCxnSpPr>
        <p:spPr>
          <a:xfrm flipV="1">
            <a:off x="6086476" y="5110163"/>
            <a:ext cx="0" cy="295275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789951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-69">
            <a:extLst>
              <a:ext uri="{FF2B5EF4-FFF2-40B4-BE49-F238E27FC236}">
                <a16:creationId xmlns:a16="http://schemas.microsoft.com/office/drawing/2014/main" id="{B1CF33D8-C3C6-4158-A6A1-B803D6F2588D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lang="en-US" sz="3000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Voice Agent</a:t>
            </a:r>
            <a:r>
              <a:rPr sz="3000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000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Program Flow</a:t>
            </a:r>
            <a:endParaRPr sz="3000" b="1" dirty="0">
              <a:solidFill>
                <a:srgbClr val="213A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-70">
            <a:extLst>
              <a:ext uri="{FF2B5EF4-FFF2-40B4-BE49-F238E27FC236}">
                <a16:creationId xmlns:a16="http://schemas.microsoft.com/office/drawing/2014/main" id="{CDDF36A5-801F-4B79-8DB6-1236D63595DA}"/>
              </a:ext>
            </a:extLst>
          </p:cNvPr>
          <p:cNvSpPr>
            <a:spLocks noGrp="1"/>
          </p:cNvSpPr>
          <p:nvPr/>
        </p:nvSpPr>
        <p:spPr>
          <a:xfrm>
            <a:off x="11096625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diagram-71">
            <a:extLst>
              <a:ext uri="{FF2B5EF4-FFF2-40B4-BE49-F238E27FC236}">
                <a16:creationId xmlns:a16="http://schemas.microsoft.com/office/drawing/2014/main" id="{79363490-CA93-43A6-A6B6-719960A7E825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11049000" cy="8858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/>
          <a:lstStyle/>
          <a:p>
            <a:endParaRPr lang="en-CH"/>
          </a:p>
        </p:txBody>
      </p:sp>
      <p:sp>
        <p:nvSpPr>
          <p:cNvPr id="4" name="text-72">
            <a:extLst>
              <a:ext uri="{FF2B5EF4-FFF2-40B4-BE49-F238E27FC236}">
                <a16:creationId xmlns:a16="http://schemas.microsoft.com/office/drawing/2014/main" id="{8784EAA1-A2EE-4663-92AA-97926F032BBC}"/>
              </a:ext>
            </a:extLst>
          </p:cNvPr>
          <p:cNvSpPr>
            <a:spLocks noGrp="1"/>
          </p:cNvSpPr>
          <p:nvPr/>
        </p:nvSpPr>
        <p:spPr>
          <a:xfrm>
            <a:off x="762000" y="1543050"/>
            <a:ext cx="2143125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Initialize</a:t>
            </a:r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31720" y="1638300"/>
            <a:ext cx="295275" cy="295275"/>
          </a:xfrm>
          <a:prstGeom prst="rect">
            <a:avLst/>
          </a:prstGeom>
        </p:spPr>
      </p:pic>
      <p:sp>
        <p:nvSpPr>
          <p:cNvPr id="6" name="text-73">
            <a:extLst>
              <a:ext uri="{FF2B5EF4-FFF2-40B4-BE49-F238E27FC236}">
                <a16:creationId xmlns:a16="http://schemas.microsoft.com/office/drawing/2014/main" id="{E5D2A0D5-A50C-4BF5-8C22-0DD4192896A7}"/>
              </a:ext>
            </a:extLst>
          </p:cNvPr>
          <p:cNvSpPr>
            <a:spLocks noGrp="1"/>
          </p:cNvSpPr>
          <p:nvPr/>
        </p:nvSpPr>
        <p:spPr>
          <a:xfrm>
            <a:off x="2770632" y="1543050"/>
            <a:ext cx="2752344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344B59"/>
                </a:solidFill>
                <a:latin typeface="Arial"/>
                <a:ea typeface="Arial"/>
                <a:cs typeface="Arial"/>
              </a:rPr>
              <a:t>Qwen3.5-4B in llama.cpp</a:t>
            </a:r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797438" y="1638300"/>
            <a:ext cx="295275" cy="295275"/>
          </a:xfrm>
          <a:prstGeom prst="rect">
            <a:avLst/>
          </a:prstGeom>
        </p:spPr>
      </p:pic>
      <p:sp>
        <p:nvSpPr>
          <p:cNvPr id="8" name="text-74">
            <a:extLst>
              <a:ext uri="{FF2B5EF4-FFF2-40B4-BE49-F238E27FC236}">
                <a16:creationId xmlns:a16="http://schemas.microsoft.com/office/drawing/2014/main" id="{F3057A82-FE0C-4509-A523-BFDE5B3D988F}"/>
              </a:ext>
            </a:extLst>
          </p:cNvPr>
          <p:cNvSpPr>
            <a:spLocks noGrp="1"/>
          </p:cNvSpPr>
          <p:nvPr/>
        </p:nvSpPr>
        <p:spPr>
          <a:xfrm>
            <a:off x="6236350" y="1543050"/>
            <a:ext cx="2532602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344B59"/>
                </a:solidFill>
                <a:latin typeface="Arial"/>
                <a:ea typeface="Arial"/>
                <a:cs typeface="Arial"/>
              </a:rPr>
              <a:t>Moonshine ASR + TTS</a:t>
            </a:r>
          </a:p>
        </p:txBody>
      </p:sp>
      <p:sp>
        <p:nvSpPr>
          <p:cNvPr id="106" name="text-init-prompt"/>
          <p:cNvSpPr>
            <a:spLocks noGrp="1"/>
          </p:cNvSpPr>
          <p:nvPr/>
        </p:nvSpPr>
        <p:spPr>
          <a:xfrm>
            <a:off x="9482328" y="1543050"/>
            <a:ext cx="1993392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344B59"/>
                </a:solidFill>
                <a:latin typeface="Arial"/>
                <a:ea typeface="Arial"/>
                <a:cs typeface="Arial"/>
              </a:rPr>
              <a:t>Prompt + memory</a:t>
            </a:r>
          </a:p>
        </p:txBody>
      </p:sp>
      <p:sp>
        <p:nvSpPr>
          <p:cNvPr id="9" name="diagram-75">
            <a:extLst>
              <a:ext uri="{FF2B5EF4-FFF2-40B4-BE49-F238E27FC236}">
                <a16:creationId xmlns:a16="http://schemas.microsoft.com/office/drawing/2014/main" id="{F9C20998-B20A-4E41-ADC3-D71FEF73068A}"/>
              </a:ext>
            </a:extLst>
          </p:cNvPr>
          <p:cNvSpPr>
            <a:spLocks noGrp="1"/>
          </p:cNvSpPr>
          <p:nvPr/>
        </p:nvSpPr>
        <p:spPr>
          <a:xfrm>
            <a:off x="6091238" y="23479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10" name="diagram-76">
            <a:extLst>
              <a:ext uri="{FF2B5EF4-FFF2-40B4-BE49-F238E27FC236}">
                <a16:creationId xmlns:a16="http://schemas.microsoft.com/office/drawing/2014/main" id="{911023F1-DD21-404B-94F2-EE9EEA0D9C1D}"/>
              </a:ext>
            </a:extLst>
          </p:cNvPr>
          <p:cNvSpPr>
            <a:spLocks noGrp="1"/>
          </p:cNvSpPr>
          <p:nvPr/>
        </p:nvSpPr>
        <p:spPr>
          <a:xfrm>
            <a:off x="6091238" y="27098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64" name="Straight Arrow Connector 63"/>
          <p:cNvCxnSpPr>
            <a:stCxn id="9" idx="2"/>
            <a:endCxn id="10" idx="0"/>
          </p:cNvCxnSpPr>
          <p:nvPr/>
        </p:nvCxnSpPr>
        <p:spPr>
          <a:xfrm>
            <a:off x="6096001" y="2357438"/>
            <a:ext cx="0" cy="352425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 w="sm" len="sm"/>
          </a:ln>
        </p:spPr>
      </p:cxnSp>
      <p:sp>
        <p:nvSpPr>
          <p:cNvPr id="12" name="diagram-77">
            <a:extLst>
              <a:ext uri="{FF2B5EF4-FFF2-40B4-BE49-F238E27FC236}">
                <a16:creationId xmlns:a16="http://schemas.microsoft.com/office/drawing/2014/main" id="{1EB66142-BC36-4F76-A5F5-62F7E74B2563}"/>
              </a:ext>
            </a:extLst>
          </p:cNvPr>
          <p:cNvSpPr>
            <a:spLocks noGrp="1"/>
          </p:cNvSpPr>
          <p:nvPr/>
        </p:nvSpPr>
        <p:spPr>
          <a:xfrm>
            <a:off x="571500" y="2771775"/>
            <a:ext cx="11049000" cy="287655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-78">
            <a:extLst>
              <a:ext uri="{FF2B5EF4-FFF2-40B4-BE49-F238E27FC236}">
                <a16:creationId xmlns:a16="http://schemas.microsoft.com/office/drawing/2014/main" id="{F39B0533-10CD-4634-AF2C-FF8AFC4AABE6}"/>
              </a:ext>
            </a:extLst>
          </p:cNvPr>
          <p:cNvSpPr>
            <a:spLocks noGrp="1"/>
          </p:cNvSpPr>
          <p:nvPr/>
        </p:nvSpPr>
        <p:spPr>
          <a:xfrm>
            <a:off x="762000" y="2847975"/>
            <a:ext cx="106680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Conversation </a:t>
            </a:r>
            <a:r>
              <a:rPr lang="en-US"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T</a:t>
            </a:r>
            <a:r>
              <a:rPr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urns</a:t>
            </a:r>
          </a:p>
        </p:txBody>
      </p:sp>
      <p:sp>
        <p:nvSpPr>
          <p:cNvPr id="14" name="diagram-79">
            <a:extLst>
              <a:ext uri="{FF2B5EF4-FFF2-40B4-BE49-F238E27FC236}">
                <a16:creationId xmlns:a16="http://schemas.microsoft.com/office/drawing/2014/main" id="{ECA8C202-76F5-4397-AE2D-E0795714D48A}"/>
              </a:ext>
            </a:extLst>
          </p:cNvPr>
          <p:cNvSpPr>
            <a:spLocks noGrp="1"/>
          </p:cNvSpPr>
          <p:nvPr/>
        </p:nvSpPr>
        <p:spPr>
          <a:xfrm>
            <a:off x="895350" y="3352800"/>
            <a:ext cx="3009900" cy="800100"/>
          </a:xfrm>
          <a:prstGeom prst="rect">
            <a:avLst/>
          </a:prstGeom>
          <a:solidFill>
            <a:srgbClr val="FFFFFF"/>
          </a:solidFill>
          <a:ln w="14288">
            <a:solidFill>
              <a:schemeClr val="tx1"/>
            </a:solidFill>
          </a:ln>
        </p:spPr>
        <p:txBody>
          <a:bodyPr/>
          <a:lstStyle/>
          <a:p>
            <a:endParaRPr lang="en-CH"/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47750" y="3514725"/>
            <a:ext cx="285750" cy="285750"/>
          </a:xfrm>
          <a:prstGeom prst="rect">
            <a:avLst/>
          </a:prstGeom>
        </p:spPr>
      </p:pic>
      <p:sp>
        <p:nvSpPr>
          <p:cNvPr id="16" name="text-80">
            <a:extLst>
              <a:ext uri="{FF2B5EF4-FFF2-40B4-BE49-F238E27FC236}">
                <a16:creationId xmlns:a16="http://schemas.microsoft.com/office/drawing/2014/main" id="{0CE945B1-22A5-481A-8410-52C1308F9E46}"/>
              </a:ext>
            </a:extLst>
          </p:cNvPr>
          <p:cNvSpPr>
            <a:spLocks noGrp="1"/>
          </p:cNvSpPr>
          <p:nvPr/>
        </p:nvSpPr>
        <p:spPr>
          <a:xfrm>
            <a:off x="1438275" y="3467100"/>
            <a:ext cx="23241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Receive </a:t>
            </a:r>
            <a:r>
              <a:rPr lang="en-US"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T</a:t>
            </a:r>
            <a:r>
              <a:rPr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ranscript</a:t>
            </a:r>
          </a:p>
        </p:txBody>
      </p:sp>
      <p:sp>
        <p:nvSpPr>
          <p:cNvPr id="17" name="text-81">
            <a:extLst>
              <a:ext uri="{FF2B5EF4-FFF2-40B4-BE49-F238E27FC236}">
                <a16:creationId xmlns:a16="http://schemas.microsoft.com/office/drawing/2014/main" id="{2C2ED3E5-AD41-40AC-9EF1-D0B5189C0D3D}"/>
              </a:ext>
            </a:extLst>
          </p:cNvPr>
          <p:cNvSpPr>
            <a:spLocks noGrp="1"/>
          </p:cNvSpPr>
          <p:nvPr/>
        </p:nvSpPr>
        <p:spPr>
          <a:xfrm>
            <a:off x="1047750" y="3867150"/>
            <a:ext cx="27051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Completed ASR result</a:t>
            </a:r>
          </a:p>
        </p:txBody>
      </p:sp>
      <p:sp>
        <p:nvSpPr>
          <p:cNvPr id="18" name="diagram-82">
            <a:extLst>
              <a:ext uri="{FF2B5EF4-FFF2-40B4-BE49-F238E27FC236}">
                <a16:creationId xmlns:a16="http://schemas.microsoft.com/office/drawing/2014/main" id="{AA48AB90-E671-44BF-93E9-137BEC0C9941}"/>
              </a:ext>
            </a:extLst>
          </p:cNvPr>
          <p:cNvSpPr>
            <a:spLocks noGrp="1"/>
          </p:cNvSpPr>
          <p:nvPr/>
        </p:nvSpPr>
        <p:spPr>
          <a:xfrm>
            <a:off x="4581525" y="3352800"/>
            <a:ext cx="3009900" cy="800100"/>
          </a:xfrm>
          <a:prstGeom prst="rect">
            <a:avLst/>
          </a:prstGeom>
          <a:solidFill>
            <a:srgbClr val="FFFFFF"/>
          </a:solidFill>
          <a:ln w="14288">
            <a:solidFill>
              <a:schemeClr val="tx1"/>
            </a:solidFill>
          </a:ln>
        </p:spPr>
        <p:txBody>
          <a:bodyPr/>
          <a:lstStyle/>
          <a:p>
            <a:endParaRPr lang="en-CH"/>
          </a:p>
        </p:txBody>
      </p:sp>
      <p:pic>
        <p:nvPicPr>
          <p:cNvPr id="72" name="Picture 71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733925" y="3514725"/>
            <a:ext cx="285750" cy="285750"/>
          </a:xfrm>
          <a:prstGeom prst="rect">
            <a:avLst/>
          </a:prstGeom>
        </p:spPr>
      </p:pic>
      <p:sp>
        <p:nvSpPr>
          <p:cNvPr id="20" name="text-83">
            <a:extLst>
              <a:ext uri="{FF2B5EF4-FFF2-40B4-BE49-F238E27FC236}">
                <a16:creationId xmlns:a16="http://schemas.microsoft.com/office/drawing/2014/main" id="{538A8AEC-C903-4BD7-B661-58F199AE5AB2}"/>
              </a:ext>
            </a:extLst>
          </p:cNvPr>
          <p:cNvSpPr>
            <a:spLocks noGrp="1"/>
          </p:cNvSpPr>
          <p:nvPr/>
        </p:nvSpPr>
        <p:spPr>
          <a:xfrm>
            <a:off x="5124450" y="3467100"/>
            <a:ext cx="23241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Route </a:t>
            </a:r>
            <a:r>
              <a:rPr lang="en-US"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R</a:t>
            </a:r>
            <a:r>
              <a:rPr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equest</a:t>
            </a:r>
          </a:p>
        </p:txBody>
      </p:sp>
      <p:sp>
        <p:nvSpPr>
          <p:cNvPr id="21" name="text-84">
            <a:extLst>
              <a:ext uri="{FF2B5EF4-FFF2-40B4-BE49-F238E27FC236}">
                <a16:creationId xmlns:a16="http://schemas.microsoft.com/office/drawing/2014/main" id="{D9BF9B62-B25F-40C2-9921-D7C3B5DC3DE1}"/>
              </a:ext>
            </a:extLst>
          </p:cNvPr>
          <p:cNvSpPr>
            <a:spLocks noGrp="1"/>
          </p:cNvSpPr>
          <p:nvPr/>
        </p:nvSpPr>
        <p:spPr>
          <a:xfrm>
            <a:off x="4733925" y="3867150"/>
            <a:ext cx="27051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Exact command or prompt</a:t>
            </a:r>
          </a:p>
        </p:txBody>
      </p:sp>
      <p:sp>
        <p:nvSpPr>
          <p:cNvPr id="22" name="diagram-85">
            <a:extLst>
              <a:ext uri="{FF2B5EF4-FFF2-40B4-BE49-F238E27FC236}">
                <a16:creationId xmlns:a16="http://schemas.microsoft.com/office/drawing/2014/main" id="{35A60AD8-2661-4A11-A0C7-8E4B7A01AC41}"/>
              </a:ext>
            </a:extLst>
          </p:cNvPr>
          <p:cNvSpPr>
            <a:spLocks noGrp="1"/>
          </p:cNvSpPr>
          <p:nvPr/>
        </p:nvSpPr>
        <p:spPr>
          <a:xfrm>
            <a:off x="8267700" y="3352800"/>
            <a:ext cx="3009900" cy="800100"/>
          </a:xfrm>
          <a:prstGeom prst="rect">
            <a:avLst/>
          </a:prstGeom>
          <a:solidFill>
            <a:srgbClr val="FFFFFF"/>
          </a:solidFill>
          <a:ln w="14288">
            <a:solidFill>
              <a:schemeClr val="tx1"/>
            </a:solidFill>
          </a:ln>
        </p:spPr>
        <p:txBody>
          <a:bodyPr/>
          <a:lstStyle/>
          <a:p>
            <a:endParaRPr lang="en-CH"/>
          </a:p>
        </p:txBody>
      </p:sp>
      <p:pic>
        <p:nvPicPr>
          <p:cNvPr id="76" name="Picture 7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20100" y="3514725"/>
            <a:ext cx="285750" cy="285750"/>
          </a:xfrm>
          <a:prstGeom prst="rect">
            <a:avLst/>
          </a:prstGeom>
        </p:spPr>
      </p:pic>
      <p:sp>
        <p:nvSpPr>
          <p:cNvPr id="24" name="text-86">
            <a:extLst>
              <a:ext uri="{FF2B5EF4-FFF2-40B4-BE49-F238E27FC236}">
                <a16:creationId xmlns:a16="http://schemas.microsoft.com/office/drawing/2014/main" id="{1C5F9F80-A64B-4129-B7E0-6277C980D826}"/>
              </a:ext>
            </a:extLst>
          </p:cNvPr>
          <p:cNvSpPr>
            <a:spLocks noGrp="1"/>
          </p:cNvSpPr>
          <p:nvPr/>
        </p:nvSpPr>
        <p:spPr>
          <a:xfrm>
            <a:off x="8810625" y="3467100"/>
            <a:ext cx="23241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Produce </a:t>
            </a:r>
            <a:r>
              <a:rPr lang="en-US"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A</a:t>
            </a:r>
            <a:r>
              <a:rPr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nswer</a:t>
            </a:r>
          </a:p>
        </p:txBody>
      </p:sp>
      <p:sp>
        <p:nvSpPr>
          <p:cNvPr id="25" name="text-87">
            <a:extLst>
              <a:ext uri="{FF2B5EF4-FFF2-40B4-BE49-F238E27FC236}">
                <a16:creationId xmlns:a16="http://schemas.microsoft.com/office/drawing/2014/main" id="{07D8EDE8-ED96-4F87-9E77-493C91AF5FBC}"/>
              </a:ext>
            </a:extLst>
          </p:cNvPr>
          <p:cNvSpPr>
            <a:spLocks noGrp="1"/>
          </p:cNvSpPr>
          <p:nvPr/>
        </p:nvSpPr>
        <p:spPr>
          <a:xfrm>
            <a:off x="8420100" y="3867150"/>
            <a:ext cx="27051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Qwen or command handler</a:t>
            </a:r>
          </a:p>
        </p:txBody>
      </p:sp>
      <p:sp>
        <p:nvSpPr>
          <p:cNvPr id="26" name="diagram-88">
            <a:extLst>
              <a:ext uri="{FF2B5EF4-FFF2-40B4-BE49-F238E27FC236}">
                <a16:creationId xmlns:a16="http://schemas.microsoft.com/office/drawing/2014/main" id="{40C58BA7-F14F-45D1-9CBA-3D41CD83ADDB}"/>
              </a:ext>
            </a:extLst>
          </p:cNvPr>
          <p:cNvSpPr>
            <a:spLocks noGrp="1"/>
          </p:cNvSpPr>
          <p:nvPr/>
        </p:nvSpPr>
        <p:spPr>
          <a:xfrm>
            <a:off x="8267700" y="4648200"/>
            <a:ext cx="3009900" cy="800100"/>
          </a:xfrm>
          <a:prstGeom prst="rect">
            <a:avLst/>
          </a:prstGeom>
          <a:solidFill>
            <a:srgbClr val="FFFFFF"/>
          </a:solidFill>
          <a:ln w="14288">
            <a:solidFill>
              <a:schemeClr val="tx1"/>
            </a:solidFill>
          </a:ln>
        </p:spPr>
        <p:txBody>
          <a:bodyPr/>
          <a:lstStyle/>
          <a:p>
            <a:endParaRPr lang="en-CH"/>
          </a:p>
        </p:txBody>
      </p:sp>
      <p:pic>
        <p:nvPicPr>
          <p:cNvPr id="80" name="Picture 79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420100" y="4810125"/>
            <a:ext cx="285750" cy="285750"/>
          </a:xfrm>
          <a:prstGeom prst="rect">
            <a:avLst/>
          </a:prstGeom>
        </p:spPr>
      </p:pic>
      <p:sp>
        <p:nvSpPr>
          <p:cNvPr id="28" name="text-89">
            <a:extLst>
              <a:ext uri="{FF2B5EF4-FFF2-40B4-BE49-F238E27FC236}">
                <a16:creationId xmlns:a16="http://schemas.microsoft.com/office/drawing/2014/main" id="{0F852DEE-8816-47AF-9BA5-840C8514880E}"/>
              </a:ext>
            </a:extLst>
          </p:cNvPr>
          <p:cNvSpPr>
            <a:spLocks noGrp="1"/>
          </p:cNvSpPr>
          <p:nvPr/>
        </p:nvSpPr>
        <p:spPr>
          <a:xfrm>
            <a:off x="8810625" y="4762500"/>
            <a:ext cx="23241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Synthesize and </a:t>
            </a:r>
            <a:r>
              <a:rPr lang="en-US" sz="1800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P</a:t>
            </a:r>
            <a:r>
              <a:rPr sz="1800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lay</a:t>
            </a:r>
          </a:p>
        </p:txBody>
      </p:sp>
      <p:sp>
        <p:nvSpPr>
          <p:cNvPr id="29" name="text-90">
            <a:extLst>
              <a:ext uri="{FF2B5EF4-FFF2-40B4-BE49-F238E27FC236}">
                <a16:creationId xmlns:a16="http://schemas.microsoft.com/office/drawing/2014/main" id="{A4E0D1AE-553C-4145-AC90-1018F5E0838F}"/>
              </a:ext>
            </a:extLst>
          </p:cNvPr>
          <p:cNvSpPr>
            <a:spLocks noGrp="1"/>
          </p:cNvSpPr>
          <p:nvPr/>
        </p:nvSpPr>
        <p:spPr>
          <a:xfrm>
            <a:off x="8420100" y="5162550"/>
            <a:ext cx="27051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Moonshine TTS + playback</a:t>
            </a:r>
          </a:p>
        </p:txBody>
      </p:sp>
      <p:sp>
        <p:nvSpPr>
          <p:cNvPr id="30" name="diagram-91">
            <a:extLst>
              <a:ext uri="{FF2B5EF4-FFF2-40B4-BE49-F238E27FC236}">
                <a16:creationId xmlns:a16="http://schemas.microsoft.com/office/drawing/2014/main" id="{0D25485C-55C8-47B1-9415-63CA71E3FDCF}"/>
              </a:ext>
            </a:extLst>
          </p:cNvPr>
          <p:cNvSpPr>
            <a:spLocks noGrp="1"/>
          </p:cNvSpPr>
          <p:nvPr/>
        </p:nvSpPr>
        <p:spPr>
          <a:xfrm>
            <a:off x="4581525" y="4648200"/>
            <a:ext cx="3009900" cy="800100"/>
          </a:xfrm>
          <a:prstGeom prst="rect">
            <a:avLst/>
          </a:prstGeom>
          <a:solidFill>
            <a:srgbClr val="FFFFFF"/>
          </a:solidFill>
          <a:ln w="14288">
            <a:solidFill>
              <a:schemeClr val="tx1"/>
            </a:solidFill>
          </a:ln>
        </p:spPr>
        <p:txBody>
          <a:bodyPr/>
          <a:lstStyle/>
          <a:p>
            <a:endParaRPr lang="en-CH"/>
          </a:p>
        </p:txBody>
      </p:sp>
      <p:pic>
        <p:nvPicPr>
          <p:cNvPr id="84" name="Picture 8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33925" y="4810125"/>
            <a:ext cx="285750" cy="285750"/>
          </a:xfrm>
          <a:prstGeom prst="rect">
            <a:avLst/>
          </a:prstGeom>
        </p:spPr>
      </p:pic>
      <p:sp>
        <p:nvSpPr>
          <p:cNvPr id="32" name="text-92">
            <a:extLst>
              <a:ext uri="{FF2B5EF4-FFF2-40B4-BE49-F238E27FC236}">
                <a16:creationId xmlns:a16="http://schemas.microsoft.com/office/drawing/2014/main" id="{7193354A-A26F-4443-8A97-5E73726CD2CD}"/>
              </a:ext>
            </a:extLst>
          </p:cNvPr>
          <p:cNvSpPr>
            <a:spLocks noGrp="1"/>
          </p:cNvSpPr>
          <p:nvPr/>
        </p:nvSpPr>
        <p:spPr>
          <a:xfrm>
            <a:off x="5124450" y="4762500"/>
            <a:ext cx="23241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Finalize </a:t>
            </a:r>
            <a:r>
              <a:rPr lang="en-US"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T</a:t>
            </a:r>
            <a:r>
              <a:rPr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urn</a:t>
            </a:r>
          </a:p>
        </p:txBody>
      </p:sp>
      <p:sp>
        <p:nvSpPr>
          <p:cNvPr id="33" name="text-93">
            <a:extLst>
              <a:ext uri="{FF2B5EF4-FFF2-40B4-BE49-F238E27FC236}">
                <a16:creationId xmlns:a16="http://schemas.microsoft.com/office/drawing/2014/main" id="{D7FC1D69-C778-491B-9141-0CA9E5BC4AFC}"/>
              </a:ext>
            </a:extLst>
          </p:cNvPr>
          <p:cNvSpPr>
            <a:spLocks noGrp="1"/>
          </p:cNvSpPr>
          <p:nvPr/>
        </p:nvSpPr>
        <p:spPr>
          <a:xfrm>
            <a:off x="4733925" y="5162550"/>
            <a:ext cx="27051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Keep delivered turns</a:t>
            </a:r>
          </a:p>
        </p:txBody>
      </p:sp>
      <p:sp>
        <p:nvSpPr>
          <p:cNvPr id="34" name="diagram-94">
            <a:extLst>
              <a:ext uri="{FF2B5EF4-FFF2-40B4-BE49-F238E27FC236}">
                <a16:creationId xmlns:a16="http://schemas.microsoft.com/office/drawing/2014/main" id="{D18ECB0C-8A05-4AA9-AA76-23D5D1F32056}"/>
              </a:ext>
            </a:extLst>
          </p:cNvPr>
          <p:cNvSpPr>
            <a:spLocks noGrp="1"/>
          </p:cNvSpPr>
          <p:nvPr/>
        </p:nvSpPr>
        <p:spPr>
          <a:xfrm>
            <a:off x="3976688" y="37480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35" name="diagram-95">
            <a:extLst>
              <a:ext uri="{FF2B5EF4-FFF2-40B4-BE49-F238E27FC236}">
                <a16:creationId xmlns:a16="http://schemas.microsoft.com/office/drawing/2014/main" id="{6D14C516-5498-42B6-B3FD-6627F038F2EC}"/>
              </a:ext>
            </a:extLst>
          </p:cNvPr>
          <p:cNvSpPr>
            <a:spLocks noGrp="1"/>
          </p:cNvSpPr>
          <p:nvPr/>
        </p:nvSpPr>
        <p:spPr>
          <a:xfrm>
            <a:off x="4500563" y="37480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89" name="Straight Arrow Connector 88"/>
          <p:cNvCxnSpPr>
            <a:stCxn id="34" idx="3"/>
            <a:endCxn id="35" idx="1"/>
          </p:cNvCxnSpPr>
          <p:nvPr/>
        </p:nvCxnSpPr>
        <p:spPr>
          <a:xfrm>
            <a:off x="3986213" y="3752851"/>
            <a:ext cx="514350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 w="sm" len="sm"/>
          </a:ln>
        </p:spPr>
      </p:cxnSp>
      <p:sp>
        <p:nvSpPr>
          <p:cNvPr id="37" name="diagram-96">
            <a:extLst>
              <a:ext uri="{FF2B5EF4-FFF2-40B4-BE49-F238E27FC236}">
                <a16:creationId xmlns:a16="http://schemas.microsoft.com/office/drawing/2014/main" id="{239EE341-6F52-4775-94AC-5678CC2A4769}"/>
              </a:ext>
            </a:extLst>
          </p:cNvPr>
          <p:cNvSpPr>
            <a:spLocks noGrp="1"/>
          </p:cNvSpPr>
          <p:nvPr/>
        </p:nvSpPr>
        <p:spPr>
          <a:xfrm>
            <a:off x="7662863" y="37480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38" name="diagram-97">
            <a:extLst>
              <a:ext uri="{FF2B5EF4-FFF2-40B4-BE49-F238E27FC236}">
                <a16:creationId xmlns:a16="http://schemas.microsoft.com/office/drawing/2014/main" id="{DEC2CB7F-D67B-49A4-8CD7-DA42C0B0FD70}"/>
              </a:ext>
            </a:extLst>
          </p:cNvPr>
          <p:cNvSpPr>
            <a:spLocks noGrp="1"/>
          </p:cNvSpPr>
          <p:nvPr/>
        </p:nvSpPr>
        <p:spPr>
          <a:xfrm>
            <a:off x="8186738" y="37480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92" name="Straight Arrow Connector 91"/>
          <p:cNvCxnSpPr>
            <a:stCxn id="37" idx="3"/>
            <a:endCxn id="38" idx="1"/>
          </p:cNvCxnSpPr>
          <p:nvPr/>
        </p:nvCxnSpPr>
        <p:spPr>
          <a:xfrm>
            <a:off x="7672388" y="3752851"/>
            <a:ext cx="514350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 w="sm" len="sm"/>
          </a:ln>
        </p:spPr>
      </p:cxnSp>
      <p:sp>
        <p:nvSpPr>
          <p:cNvPr id="40" name="diagram-98">
            <a:extLst>
              <a:ext uri="{FF2B5EF4-FFF2-40B4-BE49-F238E27FC236}">
                <a16:creationId xmlns:a16="http://schemas.microsoft.com/office/drawing/2014/main" id="{93A62E34-EFE2-4619-A8B0-20266DE6371B}"/>
              </a:ext>
            </a:extLst>
          </p:cNvPr>
          <p:cNvSpPr>
            <a:spLocks noGrp="1"/>
          </p:cNvSpPr>
          <p:nvPr/>
        </p:nvSpPr>
        <p:spPr>
          <a:xfrm>
            <a:off x="9767888" y="42243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41" name="diagram-99">
            <a:extLst>
              <a:ext uri="{FF2B5EF4-FFF2-40B4-BE49-F238E27FC236}">
                <a16:creationId xmlns:a16="http://schemas.microsoft.com/office/drawing/2014/main" id="{0CCFCD02-2B22-46A7-AE22-DF9BF6026B5E}"/>
              </a:ext>
            </a:extLst>
          </p:cNvPr>
          <p:cNvSpPr>
            <a:spLocks noGrp="1"/>
          </p:cNvSpPr>
          <p:nvPr/>
        </p:nvSpPr>
        <p:spPr>
          <a:xfrm>
            <a:off x="9767888" y="45672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95" name="Straight Arrow Connector 94"/>
          <p:cNvCxnSpPr>
            <a:stCxn id="40" idx="2"/>
            <a:endCxn id="41" idx="0"/>
          </p:cNvCxnSpPr>
          <p:nvPr/>
        </p:nvCxnSpPr>
        <p:spPr>
          <a:xfrm>
            <a:off x="9772651" y="4233863"/>
            <a:ext cx="0" cy="333375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 w="sm" len="sm"/>
          </a:ln>
        </p:spPr>
      </p:cxnSp>
      <p:sp>
        <p:nvSpPr>
          <p:cNvPr id="43" name="diagram-100">
            <a:extLst>
              <a:ext uri="{FF2B5EF4-FFF2-40B4-BE49-F238E27FC236}">
                <a16:creationId xmlns:a16="http://schemas.microsoft.com/office/drawing/2014/main" id="{7B1FD39F-BEBF-40AF-B981-D71B13A11561}"/>
              </a:ext>
            </a:extLst>
          </p:cNvPr>
          <p:cNvSpPr>
            <a:spLocks noGrp="1"/>
          </p:cNvSpPr>
          <p:nvPr/>
        </p:nvSpPr>
        <p:spPr>
          <a:xfrm>
            <a:off x="8186738" y="50434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44" name="diagram-101">
            <a:extLst>
              <a:ext uri="{FF2B5EF4-FFF2-40B4-BE49-F238E27FC236}">
                <a16:creationId xmlns:a16="http://schemas.microsoft.com/office/drawing/2014/main" id="{0E6764BD-7B07-42C2-86D3-B76FDB3AC6FA}"/>
              </a:ext>
            </a:extLst>
          </p:cNvPr>
          <p:cNvSpPr>
            <a:spLocks noGrp="1"/>
          </p:cNvSpPr>
          <p:nvPr/>
        </p:nvSpPr>
        <p:spPr>
          <a:xfrm>
            <a:off x="7662863" y="50434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98" name="Straight Arrow Connector 97"/>
          <p:cNvCxnSpPr>
            <a:stCxn id="43" idx="1"/>
            <a:endCxn id="44" idx="3"/>
          </p:cNvCxnSpPr>
          <p:nvPr/>
        </p:nvCxnSpPr>
        <p:spPr>
          <a:xfrm flipH="1">
            <a:off x="7672388" y="5048251"/>
            <a:ext cx="514350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 w="sm" len="sm"/>
          </a:ln>
        </p:spPr>
      </p:cxnSp>
      <p:sp>
        <p:nvSpPr>
          <p:cNvPr id="46" name="diagram-102">
            <a:extLst>
              <a:ext uri="{FF2B5EF4-FFF2-40B4-BE49-F238E27FC236}">
                <a16:creationId xmlns:a16="http://schemas.microsoft.com/office/drawing/2014/main" id="{5B9EEC00-AF4E-461E-AE1C-ACA33D80A260}"/>
              </a:ext>
            </a:extLst>
          </p:cNvPr>
          <p:cNvSpPr>
            <a:spLocks noGrp="1"/>
          </p:cNvSpPr>
          <p:nvPr/>
        </p:nvSpPr>
        <p:spPr>
          <a:xfrm>
            <a:off x="4500563" y="50434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47" name="diagram-103">
            <a:extLst>
              <a:ext uri="{FF2B5EF4-FFF2-40B4-BE49-F238E27FC236}">
                <a16:creationId xmlns:a16="http://schemas.microsoft.com/office/drawing/2014/main" id="{F422A9A2-4793-40FA-95C5-FFFDFCF9C3D8}"/>
              </a:ext>
            </a:extLst>
          </p:cNvPr>
          <p:cNvSpPr>
            <a:spLocks noGrp="1"/>
          </p:cNvSpPr>
          <p:nvPr/>
        </p:nvSpPr>
        <p:spPr>
          <a:xfrm>
            <a:off x="2395538" y="50434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101" name="Straight Arrow Connector 100"/>
          <p:cNvCxnSpPr>
            <a:cxnSpLocks/>
          </p:cNvCxnSpPr>
          <p:nvPr/>
        </p:nvCxnSpPr>
        <p:spPr>
          <a:xfrm flipH="1">
            <a:off x="2393157" y="5048251"/>
            <a:ext cx="2105025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</a:ln>
        </p:spPr>
      </p:cxnSp>
      <p:sp>
        <p:nvSpPr>
          <p:cNvPr id="49" name="diagram-104">
            <a:extLst>
              <a:ext uri="{FF2B5EF4-FFF2-40B4-BE49-F238E27FC236}">
                <a16:creationId xmlns:a16="http://schemas.microsoft.com/office/drawing/2014/main" id="{D5995933-AE92-411C-82CA-C34DB81201A8}"/>
              </a:ext>
            </a:extLst>
          </p:cNvPr>
          <p:cNvSpPr>
            <a:spLocks noGrp="1"/>
          </p:cNvSpPr>
          <p:nvPr/>
        </p:nvSpPr>
        <p:spPr>
          <a:xfrm>
            <a:off x="2395538" y="50434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50" name="diagram-105">
            <a:extLst>
              <a:ext uri="{FF2B5EF4-FFF2-40B4-BE49-F238E27FC236}">
                <a16:creationId xmlns:a16="http://schemas.microsoft.com/office/drawing/2014/main" id="{DF6DF7E7-2CD7-48A9-886C-EF519286EA96}"/>
              </a:ext>
            </a:extLst>
          </p:cNvPr>
          <p:cNvSpPr>
            <a:spLocks noGrp="1"/>
          </p:cNvSpPr>
          <p:nvPr/>
        </p:nvSpPr>
        <p:spPr>
          <a:xfrm>
            <a:off x="2395538" y="42243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104" name="Straight Arrow Connector 103"/>
          <p:cNvCxnSpPr>
            <a:cxnSpLocks/>
          </p:cNvCxnSpPr>
          <p:nvPr/>
        </p:nvCxnSpPr>
        <p:spPr>
          <a:xfrm flipV="1">
            <a:off x="2400301" y="4200525"/>
            <a:ext cx="0" cy="854869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 w="sm" len="sm"/>
          </a:ln>
        </p:spPr>
      </p:cxnSp>
      <p:sp>
        <p:nvSpPr>
          <p:cNvPr id="52" name="text-106">
            <a:extLst>
              <a:ext uri="{FF2B5EF4-FFF2-40B4-BE49-F238E27FC236}">
                <a16:creationId xmlns:a16="http://schemas.microsoft.com/office/drawing/2014/main" id="{7C798868-98F0-42E7-8AE7-01CB3E965324}"/>
              </a:ext>
            </a:extLst>
          </p:cNvPr>
          <p:cNvSpPr>
            <a:spLocks noGrp="1"/>
          </p:cNvSpPr>
          <p:nvPr/>
        </p:nvSpPr>
        <p:spPr>
          <a:xfrm>
            <a:off x="2524125" y="4638675"/>
            <a:ext cx="145732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repeat</a:t>
            </a:r>
          </a:p>
        </p:txBody>
      </p:sp>
      <p:sp>
        <p:nvSpPr>
          <p:cNvPr id="105" name="text-streamed"/>
          <p:cNvSpPr>
            <a:spLocks noGrp="1"/>
          </p:cNvSpPr>
          <p:nvPr/>
        </p:nvSpPr>
        <p:spPr>
          <a:xfrm>
            <a:off x="9921240" y="4242816"/>
            <a:ext cx="1188720" cy="31089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streamed</a:t>
            </a:r>
          </a:p>
        </p:txBody>
      </p:sp>
      <p:pic>
        <p:nvPicPr>
          <p:cNvPr id="107" name="Picture Init Prompt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3415" y="1636776"/>
            <a:ext cx="292608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465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-151">
            <a:extLst>
              <a:ext uri="{FF2B5EF4-FFF2-40B4-BE49-F238E27FC236}">
                <a16:creationId xmlns:a16="http://schemas.microsoft.com/office/drawing/2014/main" id="{95D76689-8CC4-4C7E-8DCF-75BA98F2B78F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3A4A"/>
                </a:solidFill>
                <a:latin typeface="Arial"/>
                <a:ea typeface="Arial"/>
                <a:cs typeface="Arial"/>
              </a:rPr>
              <a:t>Speech Recognition and Synthesis</a:t>
            </a:r>
          </a:p>
        </p:txBody>
      </p:sp>
      <p:sp>
        <p:nvSpPr>
          <p:cNvPr id="2" name="text-152">
            <a:extLst>
              <a:ext uri="{FF2B5EF4-FFF2-40B4-BE49-F238E27FC236}">
                <a16:creationId xmlns:a16="http://schemas.microsoft.com/office/drawing/2014/main" id="{7D05C12E-C268-4FEA-B785-CF4FBB7431DB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lang="en-US" sz="1875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Both directions stream: partial text while the user speaks, audio before the answer is done.</a:t>
            </a:r>
          </a:p>
        </p:txBody>
      </p:sp>
      <p:sp>
        <p:nvSpPr>
          <p:cNvPr id="3" name="text-153">
            <a:extLst>
              <a:ext uri="{FF2B5EF4-FFF2-40B4-BE49-F238E27FC236}">
                <a16:creationId xmlns:a16="http://schemas.microsoft.com/office/drawing/2014/main" id="{F4E62212-9E89-4CDF-852E-419ABDEE4000}"/>
              </a:ext>
            </a:extLst>
          </p:cNvPr>
          <p:cNvSpPr>
            <a:spLocks noGrp="1"/>
          </p:cNvSpPr>
          <p:nvPr/>
        </p:nvSpPr>
        <p:spPr>
          <a:xfrm>
            <a:off x="11096625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38250" y="2143125"/>
            <a:ext cx="361950" cy="361950"/>
          </a:xfrm>
          <a:prstGeom prst="rect">
            <a:avLst/>
          </a:prstGeom>
        </p:spPr>
      </p:pic>
      <p:sp>
        <p:nvSpPr>
          <p:cNvPr id="5" name="text-154">
            <a:extLst>
              <a:ext uri="{FF2B5EF4-FFF2-40B4-BE49-F238E27FC236}">
                <a16:creationId xmlns:a16="http://schemas.microsoft.com/office/drawing/2014/main" id="{23427BBC-D6DE-4CB8-BAF0-045F112E037F}"/>
              </a:ext>
            </a:extLst>
          </p:cNvPr>
          <p:cNvSpPr>
            <a:spLocks noGrp="1"/>
          </p:cNvSpPr>
          <p:nvPr/>
        </p:nvSpPr>
        <p:spPr>
          <a:xfrm>
            <a:off x="571500" y="2705100"/>
            <a:ext cx="16954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Audio </a:t>
            </a:r>
            <a:r>
              <a:rPr lang="en-US" sz="17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I</a:t>
            </a:r>
            <a:r>
              <a:rPr sz="17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nput</a:t>
            </a:r>
          </a:p>
        </p:txBody>
      </p:sp>
      <p:sp>
        <p:nvSpPr>
          <p:cNvPr id="6" name="text-155">
            <a:extLst>
              <a:ext uri="{FF2B5EF4-FFF2-40B4-BE49-F238E27FC236}">
                <a16:creationId xmlns:a16="http://schemas.microsoft.com/office/drawing/2014/main" id="{6603254C-AFAB-4E7B-8040-0B8FCC1C2FD8}"/>
              </a:ext>
            </a:extLst>
          </p:cNvPr>
          <p:cNvSpPr>
            <a:spLocks noGrp="1"/>
          </p:cNvSpPr>
          <p:nvPr/>
        </p:nvSpPr>
        <p:spPr>
          <a:xfrm>
            <a:off x="571500" y="3133725"/>
            <a:ext cx="16954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Microphone</a:t>
            </a:r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433763" y="2143125"/>
            <a:ext cx="361950" cy="361950"/>
          </a:xfrm>
          <a:prstGeom prst="rect">
            <a:avLst/>
          </a:prstGeom>
        </p:spPr>
      </p:pic>
      <p:sp>
        <p:nvSpPr>
          <p:cNvPr id="8" name="text-156">
            <a:extLst>
              <a:ext uri="{FF2B5EF4-FFF2-40B4-BE49-F238E27FC236}">
                <a16:creationId xmlns:a16="http://schemas.microsoft.com/office/drawing/2014/main" id="{E55335A0-603A-4B58-8A88-D52E9BA8721A}"/>
              </a:ext>
            </a:extLst>
          </p:cNvPr>
          <p:cNvSpPr>
            <a:spLocks noGrp="1"/>
          </p:cNvSpPr>
          <p:nvPr/>
        </p:nvSpPr>
        <p:spPr>
          <a:xfrm>
            <a:off x="2724150" y="2705100"/>
            <a:ext cx="178117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Speech-to-</a:t>
            </a:r>
            <a:r>
              <a:rPr lang="en-US" sz="17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T</a:t>
            </a:r>
            <a:r>
              <a:rPr sz="17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ext</a:t>
            </a:r>
          </a:p>
        </p:txBody>
      </p:sp>
      <p:sp>
        <p:nvSpPr>
          <p:cNvPr id="9" name="text-157">
            <a:extLst>
              <a:ext uri="{FF2B5EF4-FFF2-40B4-BE49-F238E27FC236}">
                <a16:creationId xmlns:a16="http://schemas.microsoft.com/office/drawing/2014/main" id="{FCEEF2DA-3BA1-4A04-A7EC-BD18E85E8A25}"/>
              </a:ext>
            </a:extLst>
          </p:cNvPr>
          <p:cNvSpPr>
            <a:spLocks noGrp="1"/>
          </p:cNvSpPr>
          <p:nvPr/>
        </p:nvSpPr>
        <p:spPr>
          <a:xfrm>
            <a:off x="2724150" y="3133725"/>
            <a:ext cx="1781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Moonshine ASR</a:t>
            </a:r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848350" y="2143125"/>
            <a:ext cx="361950" cy="361950"/>
          </a:xfrm>
          <a:prstGeom prst="rect">
            <a:avLst/>
          </a:prstGeom>
        </p:spPr>
      </p:pic>
      <p:sp>
        <p:nvSpPr>
          <p:cNvPr id="11" name="text-158">
            <a:extLst>
              <a:ext uri="{FF2B5EF4-FFF2-40B4-BE49-F238E27FC236}">
                <a16:creationId xmlns:a16="http://schemas.microsoft.com/office/drawing/2014/main" id="{B1708B2B-F277-49F1-9129-D6D2CAC0FB5E}"/>
              </a:ext>
            </a:extLst>
          </p:cNvPr>
          <p:cNvSpPr>
            <a:spLocks noGrp="1"/>
          </p:cNvSpPr>
          <p:nvPr/>
        </p:nvSpPr>
        <p:spPr>
          <a:xfrm>
            <a:off x="4962525" y="2705100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Text </a:t>
            </a:r>
            <a:r>
              <a:rPr lang="en-US" sz="17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C</a:t>
            </a:r>
            <a:r>
              <a:rPr sz="17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onversation</a:t>
            </a:r>
          </a:p>
        </p:txBody>
      </p:sp>
      <p:sp>
        <p:nvSpPr>
          <p:cNvPr id="12" name="text-159">
            <a:extLst>
              <a:ext uri="{FF2B5EF4-FFF2-40B4-BE49-F238E27FC236}">
                <a16:creationId xmlns:a16="http://schemas.microsoft.com/office/drawing/2014/main" id="{D2A9763A-A48D-467E-9241-5B6F7014D636}"/>
              </a:ext>
            </a:extLst>
          </p:cNvPr>
          <p:cNvSpPr>
            <a:spLocks noGrp="1"/>
          </p:cNvSpPr>
          <p:nvPr/>
        </p:nvSpPr>
        <p:spPr>
          <a:xfrm>
            <a:off x="4985385" y="3133725"/>
            <a:ext cx="2133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Prompt + </a:t>
            </a:r>
            <a:r>
              <a:rPr lang="de-CH" sz="1575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Qwen </a:t>
            </a:r>
            <a:r>
              <a:rPr lang="en-US" sz="1575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M</a:t>
            </a:r>
            <a:r>
              <a:rPr sz="1575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odel</a:t>
            </a:r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262938" y="2143125"/>
            <a:ext cx="361950" cy="361950"/>
          </a:xfrm>
          <a:prstGeom prst="rect">
            <a:avLst/>
          </a:prstGeom>
        </p:spPr>
      </p:pic>
      <p:sp>
        <p:nvSpPr>
          <p:cNvPr id="14" name="text-160">
            <a:extLst>
              <a:ext uri="{FF2B5EF4-FFF2-40B4-BE49-F238E27FC236}">
                <a16:creationId xmlns:a16="http://schemas.microsoft.com/office/drawing/2014/main" id="{F022C516-6DAD-4122-877A-5EE6FD549084}"/>
              </a:ext>
            </a:extLst>
          </p:cNvPr>
          <p:cNvSpPr>
            <a:spLocks noGrp="1"/>
          </p:cNvSpPr>
          <p:nvPr/>
        </p:nvSpPr>
        <p:spPr>
          <a:xfrm>
            <a:off x="7553325" y="2705100"/>
            <a:ext cx="178117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Text-to-</a:t>
            </a:r>
            <a:r>
              <a:rPr lang="en-US" sz="17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S</a:t>
            </a:r>
            <a:r>
              <a:rPr sz="17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peech</a:t>
            </a:r>
          </a:p>
        </p:txBody>
      </p:sp>
      <p:sp>
        <p:nvSpPr>
          <p:cNvPr id="15" name="text-161">
            <a:extLst>
              <a:ext uri="{FF2B5EF4-FFF2-40B4-BE49-F238E27FC236}">
                <a16:creationId xmlns:a16="http://schemas.microsoft.com/office/drawing/2014/main" id="{AC2D120E-41C7-4324-9242-798F34D5D248}"/>
              </a:ext>
            </a:extLst>
          </p:cNvPr>
          <p:cNvSpPr>
            <a:spLocks noGrp="1"/>
          </p:cNvSpPr>
          <p:nvPr/>
        </p:nvSpPr>
        <p:spPr>
          <a:xfrm>
            <a:off x="7553325" y="3133725"/>
            <a:ext cx="1781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Moonshine TTS</a:t>
            </a:r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525125" y="2143125"/>
            <a:ext cx="361950" cy="361950"/>
          </a:xfrm>
          <a:prstGeom prst="rect">
            <a:avLst/>
          </a:prstGeom>
        </p:spPr>
      </p:pic>
      <p:sp>
        <p:nvSpPr>
          <p:cNvPr id="17" name="text-162">
            <a:extLst>
              <a:ext uri="{FF2B5EF4-FFF2-40B4-BE49-F238E27FC236}">
                <a16:creationId xmlns:a16="http://schemas.microsoft.com/office/drawing/2014/main" id="{198A2760-DDE8-40DC-9A09-58B4E8B18D2C}"/>
              </a:ext>
            </a:extLst>
          </p:cNvPr>
          <p:cNvSpPr>
            <a:spLocks noGrp="1"/>
          </p:cNvSpPr>
          <p:nvPr/>
        </p:nvSpPr>
        <p:spPr>
          <a:xfrm>
            <a:off x="9791700" y="2705100"/>
            <a:ext cx="18288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Audio </a:t>
            </a:r>
            <a:r>
              <a:rPr lang="en-US" sz="17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O</a:t>
            </a:r>
            <a:r>
              <a:rPr sz="17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utput</a:t>
            </a:r>
          </a:p>
        </p:txBody>
      </p:sp>
      <p:sp>
        <p:nvSpPr>
          <p:cNvPr id="18" name="text-163">
            <a:extLst>
              <a:ext uri="{FF2B5EF4-FFF2-40B4-BE49-F238E27FC236}">
                <a16:creationId xmlns:a16="http://schemas.microsoft.com/office/drawing/2014/main" id="{649BD19E-19F0-4925-8CAE-406E362744E3}"/>
              </a:ext>
            </a:extLst>
          </p:cNvPr>
          <p:cNvSpPr>
            <a:spLocks noGrp="1"/>
          </p:cNvSpPr>
          <p:nvPr/>
        </p:nvSpPr>
        <p:spPr>
          <a:xfrm>
            <a:off x="9791700" y="3133725"/>
            <a:ext cx="1828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lang="en-US" sz="1575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Speaker</a:t>
            </a:r>
            <a:endParaRPr sz="1575" b="0" dirty="0">
              <a:solidFill>
                <a:srgbClr val="60717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diagram-164">
            <a:extLst>
              <a:ext uri="{FF2B5EF4-FFF2-40B4-BE49-F238E27FC236}">
                <a16:creationId xmlns:a16="http://schemas.microsoft.com/office/drawing/2014/main" id="{98EE6314-9C32-4275-82C7-15826786E73C}"/>
              </a:ext>
            </a:extLst>
          </p:cNvPr>
          <p:cNvSpPr>
            <a:spLocks noGrp="1"/>
          </p:cNvSpPr>
          <p:nvPr/>
        </p:nvSpPr>
        <p:spPr>
          <a:xfrm>
            <a:off x="2300288" y="23383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20" name="diagram-165">
            <a:extLst>
              <a:ext uri="{FF2B5EF4-FFF2-40B4-BE49-F238E27FC236}">
                <a16:creationId xmlns:a16="http://schemas.microsoft.com/office/drawing/2014/main" id="{5232A811-57DA-4BC9-80EA-49650308701D}"/>
              </a:ext>
            </a:extLst>
          </p:cNvPr>
          <p:cNvSpPr>
            <a:spLocks noGrp="1"/>
          </p:cNvSpPr>
          <p:nvPr/>
        </p:nvSpPr>
        <p:spPr>
          <a:xfrm>
            <a:off x="2681288" y="23383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66" name="Straight Arrow Connector 65"/>
          <p:cNvCxnSpPr>
            <a:stCxn id="19" idx="3"/>
            <a:endCxn id="20" idx="1"/>
          </p:cNvCxnSpPr>
          <p:nvPr/>
        </p:nvCxnSpPr>
        <p:spPr>
          <a:xfrm>
            <a:off x="2309813" y="2343151"/>
            <a:ext cx="371475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 w="sm" len="sm"/>
          </a:ln>
        </p:spPr>
      </p:cxnSp>
      <p:sp>
        <p:nvSpPr>
          <p:cNvPr id="22" name="diagram-166">
            <a:extLst>
              <a:ext uri="{FF2B5EF4-FFF2-40B4-BE49-F238E27FC236}">
                <a16:creationId xmlns:a16="http://schemas.microsoft.com/office/drawing/2014/main" id="{E04CF41B-2628-4E66-B1F4-DF62381CC0CD}"/>
              </a:ext>
            </a:extLst>
          </p:cNvPr>
          <p:cNvSpPr>
            <a:spLocks noGrp="1"/>
          </p:cNvSpPr>
          <p:nvPr/>
        </p:nvSpPr>
        <p:spPr>
          <a:xfrm>
            <a:off x="4538663" y="23383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23" name="diagram-167">
            <a:extLst>
              <a:ext uri="{FF2B5EF4-FFF2-40B4-BE49-F238E27FC236}">
                <a16:creationId xmlns:a16="http://schemas.microsoft.com/office/drawing/2014/main" id="{693C3B8E-31B2-46B5-803F-88D020CC0760}"/>
              </a:ext>
            </a:extLst>
          </p:cNvPr>
          <p:cNvSpPr>
            <a:spLocks noGrp="1"/>
          </p:cNvSpPr>
          <p:nvPr/>
        </p:nvSpPr>
        <p:spPr>
          <a:xfrm>
            <a:off x="4919663" y="23383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69" name="Straight Arrow Connector 68"/>
          <p:cNvCxnSpPr>
            <a:stCxn id="22" idx="3"/>
            <a:endCxn id="23" idx="1"/>
          </p:cNvCxnSpPr>
          <p:nvPr/>
        </p:nvCxnSpPr>
        <p:spPr>
          <a:xfrm>
            <a:off x="4548188" y="2343151"/>
            <a:ext cx="371475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 w="sm" len="sm"/>
          </a:ln>
        </p:spPr>
      </p:cxnSp>
      <p:sp>
        <p:nvSpPr>
          <p:cNvPr id="25" name="diagram-168">
            <a:extLst>
              <a:ext uri="{FF2B5EF4-FFF2-40B4-BE49-F238E27FC236}">
                <a16:creationId xmlns:a16="http://schemas.microsoft.com/office/drawing/2014/main" id="{27B8497F-620B-4DB4-A6C4-2AFE69411CDB}"/>
              </a:ext>
            </a:extLst>
          </p:cNvPr>
          <p:cNvSpPr>
            <a:spLocks noGrp="1"/>
          </p:cNvSpPr>
          <p:nvPr/>
        </p:nvSpPr>
        <p:spPr>
          <a:xfrm>
            <a:off x="7129463" y="23383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26" name="diagram-169">
            <a:extLst>
              <a:ext uri="{FF2B5EF4-FFF2-40B4-BE49-F238E27FC236}">
                <a16:creationId xmlns:a16="http://schemas.microsoft.com/office/drawing/2014/main" id="{7CFB8980-8E99-41FB-83A6-E5CB5123C880}"/>
              </a:ext>
            </a:extLst>
          </p:cNvPr>
          <p:cNvSpPr>
            <a:spLocks noGrp="1"/>
          </p:cNvSpPr>
          <p:nvPr/>
        </p:nvSpPr>
        <p:spPr>
          <a:xfrm>
            <a:off x="7510463" y="23383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72" name="Straight Arrow Connector 71"/>
          <p:cNvCxnSpPr>
            <a:stCxn id="25" idx="3"/>
            <a:endCxn id="26" idx="1"/>
          </p:cNvCxnSpPr>
          <p:nvPr/>
        </p:nvCxnSpPr>
        <p:spPr>
          <a:xfrm>
            <a:off x="7138988" y="2343151"/>
            <a:ext cx="371475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 w="sm" len="sm"/>
          </a:ln>
        </p:spPr>
      </p:cxnSp>
      <p:sp>
        <p:nvSpPr>
          <p:cNvPr id="28" name="diagram-170">
            <a:extLst>
              <a:ext uri="{FF2B5EF4-FFF2-40B4-BE49-F238E27FC236}">
                <a16:creationId xmlns:a16="http://schemas.microsoft.com/office/drawing/2014/main" id="{578C914A-C1F9-4F1A-A219-AE2BA2843847}"/>
              </a:ext>
            </a:extLst>
          </p:cNvPr>
          <p:cNvSpPr>
            <a:spLocks noGrp="1"/>
          </p:cNvSpPr>
          <p:nvPr/>
        </p:nvSpPr>
        <p:spPr>
          <a:xfrm>
            <a:off x="9367838" y="23383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29" name="diagram-171">
            <a:extLst>
              <a:ext uri="{FF2B5EF4-FFF2-40B4-BE49-F238E27FC236}">
                <a16:creationId xmlns:a16="http://schemas.microsoft.com/office/drawing/2014/main" id="{CFB87A47-F3F1-4C05-95BC-2ADCC1C80DAF}"/>
              </a:ext>
            </a:extLst>
          </p:cNvPr>
          <p:cNvSpPr>
            <a:spLocks noGrp="1"/>
          </p:cNvSpPr>
          <p:nvPr/>
        </p:nvSpPr>
        <p:spPr>
          <a:xfrm>
            <a:off x="9748838" y="23383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75" name="Straight Arrow Connector 74"/>
          <p:cNvCxnSpPr>
            <a:stCxn id="28" idx="3"/>
            <a:endCxn id="29" idx="1"/>
          </p:cNvCxnSpPr>
          <p:nvPr/>
        </p:nvCxnSpPr>
        <p:spPr>
          <a:xfrm>
            <a:off x="9377363" y="2343151"/>
            <a:ext cx="371475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 w="sm" len="sm"/>
          </a:ln>
        </p:spPr>
      </p:cxnSp>
      <p:sp>
        <p:nvSpPr>
          <p:cNvPr id="31" name="text-172">
            <a:extLst>
              <a:ext uri="{FF2B5EF4-FFF2-40B4-BE49-F238E27FC236}">
                <a16:creationId xmlns:a16="http://schemas.microsoft.com/office/drawing/2014/main" id="{5CE16A35-CEC7-46F9-850A-F7FCC0452766}"/>
              </a:ext>
            </a:extLst>
          </p:cNvPr>
          <p:cNvSpPr>
            <a:spLocks noGrp="1"/>
          </p:cNvSpPr>
          <p:nvPr/>
        </p:nvSpPr>
        <p:spPr>
          <a:xfrm>
            <a:off x="565150" y="4206875"/>
            <a:ext cx="607695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Streaming and </a:t>
            </a:r>
            <a:r>
              <a:rPr lang="en-US"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B</a:t>
            </a:r>
            <a:r>
              <a:rPr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ounded </a:t>
            </a:r>
            <a:r>
              <a:rPr lang="en-US"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Q</a:t>
            </a:r>
            <a:r>
              <a:rPr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ueues</a:t>
            </a:r>
          </a:p>
        </p:txBody>
      </p:sp>
      <p:sp>
        <p:nvSpPr>
          <p:cNvPr id="32" name="text-173">
            <a:extLst>
              <a:ext uri="{FF2B5EF4-FFF2-40B4-BE49-F238E27FC236}">
                <a16:creationId xmlns:a16="http://schemas.microsoft.com/office/drawing/2014/main" id="{476DD669-D7A3-4631-A250-9A095886B471}"/>
              </a:ext>
            </a:extLst>
          </p:cNvPr>
          <p:cNvSpPr>
            <a:spLocks noGrp="1"/>
          </p:cNvSpPr>
          <p:nvPr/>
        </p:nvSpPr>
        <p:spPr>
          <a:xfrm>
            <a:off x="565150" y="4645025"/>
            <a:ext cx="5899150" cy="933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lang="en-CH" dirty="0">
                <a:solidFill>
                  <a:srgbClr val="344B59"/>
                </a:solidFill>
                <a:latin typeface="Arial"/>
              </a:rPr>
              <a:t>On GPU, the first audio starts about 0.5 s after the </a:t>
            </a:r>
            <a:endParaRPr lang="en-US" dirty="0">
              <a:solidFill>
                <a:srgbClr val="344B59"/>
              </a:solidFill>
              <a:latin typeface="Arial"/>
            </a:endParaRPr>
          </a:p>
          <a:p>
            <a:pPr>
              <a:defRPr sz="1800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lang="en-CH" dirty="0">
                <a:solidFill>
                  <a:srgbClr val="344B59"/>
                </a:solidFill>
                <a:latin typeface="Arial"/>
              </a:rPr>
              <a:t>request. A bounded queue limits the amount of audio </a:t>
            </a:r>
            <a:endParaRPr lang="en-US" dirty="0">
              <a:solidFill>
                <a:srgbClr val="344B59"/>
              </a:solidFill>
              <a:latin typeface="Arial"/>
            </a:endParaRPr>
          </a:p>
          <a:p>
            <a:pPr>
              <a:defRPr sz="1800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lang="en-CH" dirty="0">
                <a:solidFill>
                  <a:srgbClr val="344B59"/>
                </a:solidFill>
                <a:latin typeface="Arial"/>
              </a:rPr>
              <a:t>waiting for playback.</a:t>
            </a:r>
            <a:endParaRPr sz="1800" b="0" dirty="0">
              <a:solidFill>
                <a:srgbClr val="344B5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-174">
            <a:extLst>
              <a:ext uri="{FF2B5EF4-FFF2-40B4-BE49-F238E27FC236}">
                <a16:creationId xmlns:a16="http://schemas.microsoft.com/office/drawing/2014/main" id="{A982D9AF-D04F-4484-99D7-2A0F3CF72722}"/>
              </a:ext>
            </a:extLst>
          </p:cNvPr>
          <p:cNvSpPr>
            <a:spLocks noGrp="1"/>
          </p:cNvSpPr>
          <p:nvPr/>
        </p:nvSpPr>
        <p:spPr>
          <a:xfrm>
            <a:off x="7138988" y="4206875"/>
            <a:ext cx="40957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lang="en-US" sz="1425" b="1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Speech Synthesis Flow</a:t>
            </a:r>
            <a:endParaRPr sz="1425" b="1" dirty="0">
              <a:solidFill>
                <a:srgbClr val="60717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-175">
            <a:extLst>
              <a:ext uri="{FF2B5EF4-FFF2-40B4-BE49-F238E27FC236}">
                <a16:creationId xmlns:a16="http://schemas.microsoft.com/office/drawing/2014/main" id="{8B6F5EDF-CB8E-4817-AED8-905B8223E05E}"/>
              </a:ext>
            </a:extLst>
          </p:cNvPr>
          <p:cNvSpPr>
            <a:spLocks noGrp="1"/>
          </p:cNvSpPr>
          <p:nvPr/>
        </p:nvSpPr>
        <p:spPr>
          <a:xfrm>
            <a:off x="7148513" y="4754563"/>
            <a:ext cx="7429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44B59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35" name="text-176">
            <a:extLst>
              <a:ext uri="{FF2B5EF4-FFF2-40B4-BE49-F238E27FC236}">
                <a16:creationId xmlns:a16="http://schemas.microsoft.com/office/drawing/2014/main" id="{F8D57BA5-F58E-41E4-963E-BDF1284BB99A}"/>
              </a:ext>
            </a:extLst>
          </p:cNvPr>
          <p:cNvSpPr>
            <a:spLocks noGrp="1"/>
          </p:cNvSpPr>
          <p:nvPr/>
        </p:nvSpPr>
        <p:spPr>
          <a:xfrm>
            <a:off x="7148513" y="5373688"/>
            <a:ext cx="7429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44B59"/>
                </a:solidFill>
                <a:latin typeface="Arial"/>
                <a:ea typeface="Arial"/>
                <a:cs typeface="Arial"/>
              </a:rPr>
              <a:t>Speech</a:t>
            </a:r>
          </a:p>
        </p:txBody>
      </p:sp>
      <p:sp>
        <p:nvSpPr>
          <p:cNvPr id="36" name="diagram-177">
            <a:extLst>
              <a:ext uri="{FF2B5EF4-FFF2-40B4-BE49-F238E27FC236}">
                <a16:creationId xmlns:a16="http://schemas.microsoft.com/office/drawing/2014/main" id="{B9285524-1E7D-4340-B286-4E5EAB8A9EDB}"/>
              </a:ext>
            </a:extLst>
          </p:cNvPr>
          <p:cNvSpPr>
            <a:spLocks noGrp="1"/>
          </p:cNvSpPr>
          <p:nvPr/>
        </p:nvSpPr>
        <p:spPr>
          <a:xfrm>
            <a:off x="8101013" y="4783138"/>
            <a:ext cx="1066800" cy="219075"/>
          </a:xfrm>
          <a:prstGeom prst="rect">
            <a:avLst/>
          </a:prstGeom>
          <a:solidFill>
            <a:srgbClr val="315F88"/>
          </a:solidFill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37" name="diagram-178">
            <a:extLst>
              <a:ext uri="{FF2B5EF4-FFF2-40B4-BE49-F238E27FC236}">
                <a16:creationId xmlns:a16="http://schemas.microsoft.com/office/drawing/2014/main" id="{F132C5DD-6540-4DC3-9847-55CE0313CBAF}"/>
              </a:ext>
            </a:extLst>
          </p:cNvPr>
          <p:cNvSpPr>
            <a:spLocks noGrp="1"/>
          </p:cNvSpPr>
          <p:nvPr/>
        </p:nvSpPr>
        <p:spPr>
          <a:xfrm>
            <a:off x="9272588" y="4783138"/>
            <a:ext cx="1066800" cy="219075"/>
          </a:xfrm>
          <a:prstGeom prst="rect">
            <a:avLst/>
          </a:prstGeom>
          <a:solidFill>
            <a:srgbClr val="315F88"/>
          </a:solidFill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38" name="diagram-179">
            <a:extLst>
              <a:ext uri="{FF2B5EF4-FFF2-40B4-BE49-F238E27FC236}">
                <a16:creationId xmlns:a16="http://schemas.microsoft.com/office/drawing/2014/main" id="{B9049914-EF80-48CB-B286-8A5F513F90FF}"/>
              </a:ext>
            </a:extLst>
          </p:cNvPr>
          <p:cNvSpPr>
            <a:spLocks noGrp="1"/>
          </p:cNvSpPr>
          <p:nvPr/>
        </p:nvSpPr>
        <p:spPr>
          <a:xfrm>
            <a:off x="10444163" y="4783138"/>
            <a:ext cx="1066800" cy="219075"/>
          </a:xfrm>
          <a:prstGeom prst="rect">
            <a:avLst/>
          </a:prstGeom>
          <a:solidFill>
            <a:srgbClr val="315F88"/>
          </a:solidFill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39" name="diagram-180">
            <a:extLst>
              <a:ext uri="{FF2B5EF4-FFF2-40B4-BE49-F238E27FC236}">
                <a16:creationId xmlns:a16="http://schemas.microsoft.com/office/drawing/2014/main" id="{5BFB701B-2997-40DB-9CDD-FCDABDBEF942}"/>
              </a:ext>
            </a:extLst>
          </p:cNvPr>
          <p:cNvSpPr>
            <a:spLocks noGrp="1"/>
          </p:cNvSpPr>
          <p:nvPr/>
        </p:nvSpPr>
        <p:spPr>
          <a:xfrm>
            <a:off x="8843963" y="5402263"/>
            <a:ext cx="847725" cy="219075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40" name="diagram-181">
            <a:extLst>
              <a:ext uri="{FF2B5EF4-FFF2-40B4-BE49-F238E27FC236}">
                <a16:creationId xmlns:a16="http://schemas.microsoft.com/office/drawing/2014/main" id="{189BA014-35C3-47A3-9EF7-60BDE1D60460}"/>
              </a:ext>
            </a:extLst>
          </p:cNvPr>
          <p:cNvSpPr>
            <a:spLocks noGrp="1"/>
          </p:cNvSpPr>
          <p:nvPr/>
        </p:nvSpPr>
        <p:spPr>
          <a:xfrm>
            <a:off x="9796463" y="5402263"/>
            <a:ext cx="847725" cy="219075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41" name="diagram-182">
            <a:extLst>
              <a:ext uri="{FF2B5EF4-FFF2-40B4-BE49-F238E27FC236}">
                <a16:creationId xmlns:a16="http://schemas.microsoft.com/office/drawing/2014/main" id="{87F39F59-E5E2-46BC-8B15-A25D50C9E846}"/>
              </a:ext>
            </a:extLst>
          </p:cNvPr>
          <p:cNvSpPr>
            <a:spLocks noGrp="1"/>
          </p:cNvSpPr>
          <p:nvPr/>
        </p:nvSpPr>
        <p:spPr>
          <a:xfrm>
            <a:off x="10748963" y="5402263"/>
            <a:ext cx="847725" cy="219075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42" name="diagram-183">
            <a:extLst>
              <a:ext uri="{FF2B5EF4-FFF2-40B4-BE49-F238E27FC236}">
                <a16:creationId xmlns:a16="http://schemas.microsoft.com/office/drawing/2014/main" id="{65B10C4F-A9DB-4678-BB62-F40372CBD419}"/>
              </a:ext>
            </a:extLst>
          </p:cNvPr>
          <p:cNvSpPr>
            <a:spLocks noGrp="1"/>
          </p:cNvSpPr>
          <p:nvPr/>
        </p:nvSpPr>
        <p:spPr>
          <a:xfrm>
            <a:off x="8096251" y="5902326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43" name="diagram-184">
            <a:extLst>
              <a:ext uri="{FF2B5EF4-FFF2-40B4-BE49-F238E27FC236}">
                <a16:creationId xmlns:a16="http://schemas.microsoft.com/office/drawing/2014/main" id="{965F956C-C3F9-4497-BEFD-1495B2307D7F}"/>
              </a:ext>
            </a:extLst>
          </p:cNvPr>
          <p:cNvSpPr>
            <a:spLocks noGrp="1"/>
          </p:cNvSpPr>
          <p:nvPr/>
        </p:nvSpPr>
        <p:spPr>
          <a:xfrm>
            <a:off x="11639551" y="5902326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89" name="Straight Arrow Connector 88"/>
          <p:cNvCxnSpPr>
            <a:stCxn id="42" idx="3"/>
            <a:endCxn id="43" idx="1"/>
          </p:cNvCxnSpPr>
          <p:nvPr/>
        </p:nvCxnSpPr>
        <p:spPr>
          <a:xfrm>
            <a:off x="8105776" y="5907089"/>
            <a:ext cx="3533775" cy="0"/>
          </a:xfrm>
          <a:prstGeom prst="straightConnector1">
            <a:avLst/>
          </a:prstGeom>
          <a:ln w="14288">
            <a:solidFill>
              <a:srgbClr val="B6C3CB"/>
            </a:solidFill>
            <a:prstDash val="solid"/>
            <a:tailEnd type="triangle" w="sm" len="sm"/>
          </a:ln>
        </p:spPr>
      </p:cxnSp>
      <p:sp>
        <p:nvSpPr>
          <p:cNvPr id="45" name="text-185">
            <a:extLst>
              <a:ext uri="{FF2B5EF4-FFF2-40B4-BE49-F238E27FC236}">
                <a16:creationId xmlns:a16="http://schemas.microsoft.com/office/drawing/2014/main" id="{F0AD17C0-6047-497B-B8DB-DB0C402CD40D}"/>
              </a:ext>
            </a:extLst>
          </p:cNvPr>
          <p:cNvSpPr>
            <a:spLocks noGrp="1"/>
          </p:cNvSpPr>
          <p:nvPr/>
        </p:nvSpPr>
        <p:spPr>
          <a:xfrm>
            <a:off x="10796588" y="5992813"/>
            <a:ext cx="8763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4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741561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132">
            <a:extLst>
              <a:ext uri="{FF2B5EF4-FFF2-40B4-BE49-F238E27FC236}">
                <a16:creationId xmlns:a16="http://schemas.microsoft.com/office/drawing/2014/main" id="{CA525CC0-4DF6-46F5-88AA-048A2C9163B8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3A4A"/>
                </a:solidFill>
                <a:latin typeface="Arial"/>
                <a:ea typeface="Arial"/>
                <a:cs typeface="Arial"/>
              </a:rPr>
              <a:t>System Prompt</a:t>
            </a:r>
          </a:p>
        </p:txBody>
      </p:sp>
      <p:sp>
        <p:nvSpPr>
          <p:cNvPr id="2" name="text-133">
            <a:extLst>
              <a:ext uri="{FF2B5EF4-FFF2-40B4-BE49-F238E27FC236}">
                <a16:creationId xmlns:a16="http://schemas.microsoft.com/office/drawing/2014/main" id="{090D12A9-0AE7-45E1-AC53-C8C64CB238F5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lang="en-US" sz="1875" dirty="0">
                <a:solidFill>
                  <a:srgbClr val="60717C"/>
                </a:solidFill>
                <a:latin typeface="Arial"/>
              </a:rPr>
              <a:t>It is </a:t>
            </a:r>
            <a:r>
              <a:rPr lang="en-CH" sz="1875" dirty="0">
                <a:solidFill>
                  <a:srgbClr val="60717C"/>
                </a:solidFill>
                <a:latin typeface="Arial"/>
              </a:rPr>
              <a:t>sent first in every request, followed by memory, recent turns, and the question</a:t>
            </a:r>
            <a:r>
              <a:rPr sz="1875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3" name="text-134">
            <a:extLst>
              <a:ext uri="{FF2B5EF4-FFF2-40B4-BE49-F238E27FC236}">
                <a16:creationId xmlns:a16="http://schemas.microsoft.com/office/drawing/2014/main" id="{D33627C0-C1B4-4DC1-A871-6ACDDF09B714}"/>
              </a:ext>
            </a:extLst>
          </p:cNvPr>
          <p:cNvSpPr>
            <a:spLocks noGrp="1"/>
          </p:cNvSpPr>
          <p:nvPr/>
        </p:nvSpPr>
        <p:spPr>
          <a:xfrm>
            <a:off x="11096625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text-135">
            <a:extLst>
              <a:ext uri="{FF2B5EF4-FFF2-40B4-BE49-F238E27FC236}">
                <a16:creationId xmlns:a16="http://schemas.microsoft.com/office/drawing/2014/main" id="{9FD2322E-BA64-4028-8359-4E907B37BBFE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21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Same question: “What is a </a:t>
            </a:r>
            <a:r>
              <a:rPr lang="en-US" sz="21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G</a:t>
            </a:r>
            <a:r>
              <a:rPr sz="21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PU?”</a:t>
            </a:r>
          </a:p>
        </p:txBody>
      </p:sp>
      <p:sp>
        <p:nvSpPr>
          <p:cNvPr id="5" name="text-136">
            <a:extLst>
              <a:ext uri="{FF2B5EF4-FFF2-40B4-BE49-F238E27FC236}">
                <a16:creationId xmlns:a16="http://schemas.microsoft.com/office/drawing/2014/main" id="{8B8D73DC-A200-453C-93EC-E3BD3CB8511A}"/>
              </a:ext>
            </a:extLst>
          </p:cNvPr>
          <p:cNvSpPr>
            <a:spLocks noGrp="1"/>
          </p:cNvSpPr>
          <p:nvPr/>
        </p:nvSpPr>
        <p:spPr>
          <a:xfrm>
            <a:off x="742950" y="2873375"/>
            <a:ext cx="4476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425" b="1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SYSTEM </a:t>
            </a:r>
            <a:r>
              <a:rPr lang="en-US" sz="1425" b="1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PROMPT</a:t>
            </a:r>
            <a:endParaRPr sz="1425" b="1" dirty="0">
              <a:solidFill>
                <a:srgbClr val="60717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-137">
            <a:extLst>
              <a:ext uri="{FF2B5EF4-FFF2-40B4-BE49-F238E27FC236}">
                <a16:creationId xmlns:a16="http://schemas.microsoft.com/office/drawing/2014/main" id="{8C0E4213-C116-4B28-B57D-226A5E9379A2}"/>
              </a:ext>
            </a:extLst>
          </p:cNvPr>
          <p:cNvSpPr>
            <a:spLocks noGrp="1"/>
          </p:cNvSpPr>
          <p:nvPr/>
        </p:nvSpPr>
        <p:spPr>
          <a:xfrm>
            <a:off x="6324600" y="2873375"/>
            <a:ext cx="49530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lang="en-US" sz="1425" b="1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EXAMPLE</a:t>
            </a:r>
            <a:r>
              <a:rPr sz="1425" b="1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 RESPONSE</a:t>
            </a:r>
          </a:p>
        </p:txBody>
      </p:sp>
      <p:sp>
        <p:nvSpPr>
          <p:cNvPr id="7" name="diagram-138">
            <a:extLst>
              <a:ext uri="{FF2B5EF4-FFF2-40B4-BE49-F238E27FC236}">
                <a16:creationId xmlns:a16="http://schemas.microsoft.com/office/drawing/2014/main" id="{16B7B693-E5A5-4FB1-8AF9-9F094FA8A410}"/>
              </a:ext>
            </a:extLst>
          </p:cNvPr>
          <p:cNvSpPr>
            <a:spLocks noGrp="1"/>
          </p:cNvSpPr>
          <p:nvPr/>
        </p:nvSpPr>
        <p:spPr>
          <a:xfrm>
            <a:off x="571500" y="3340100"/>
            <a:ext cx="4667250" cy="866775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  <p:txBody>
          <a:bodyPr/>
          <a:lstStyle/>
          <a:p>
            <a:endParaRPr lang="en-CH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3630612"/>
            <a:ext cx="285750" cy="285750"/>
          </a:xfrm>
          <a:prstGeom prst="rect">
            <a:avLst/>
          </a:prstGeom>
        </p:spPr>
      </p:pic>
      <p:sp>
        <p:nvSpPr>
          <p:cNvPr id="9" name="text-139">
            <a:extLst>
              <a:ext uri="{FF2B5EF4-FFF2-40B4-BE49-F238E27FC236}">
                <a16:creationId xmlns:a16="http://schemas.microsoft.com/office/drawing/2014/main" id="{35D09AC7-B9D1-4DAC-9BA8-30D1B4F19F20}"/>
              </a:ext>
            </a:extLst>
          </p:cNvPr>
          <p:cNvSpPr>
            <a:spLocks noGrp="1"/>
          </p:cNvSpPr>
          <p:nvPr/>
        </p:nvSpPr>
        <p:spPr>
          <a:xfrm>
            <a:off x="1114425" y="3587750"/>
            <a:ext cx="398145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A4A"/>
                </a:solidFill>
                <a:latin typeface="Arial"/>
                <a:ea typeface="Arial"/>
                <a:cs typeface="Arial"/>
              </a:rPr>
              <a:t>Explain with a simple analogy</a:t>
            </a:r>
          </a:p>
        </p:txBody>
      </p:sp>
      <p:sp>
        <p:nvSpPr>
          <p:cNvPr id="10" name="text-140">
            <a:extLst>
              <a:ext uri="{FF2B5EF4-FFF2-40B4-BE49-F238E27FC236}">
                <a16:creationId xmlns:a16="http://schemas.microsoft.com/office/drawing/2014/main" id="{24C01EF3-79A1-4125-978A-0AF34CC396F2}"/>
              </a:ext>
            </a:extLst>
          </p:cNvPr>
          <p:cNvSpPr>
            <a:spLocks noGrp="1"/>
          </p:cNvSpPr>
          <p:nvPr/>
        </p:nvSpPr>
        <p:spPr>
          <a:xfrm>
            <a:off x="6324600" y="3321050"/>
            <a:ext cx="5200650" cy="866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B59"/>
                </a:solidFill>
                <a:latin typeface="Arial"/>
                <a:ea typeface="Arial"/>
                <a:cs typeface="Arial"/>
              </a:rPr>
              <a:t>“A team of workers handling</a:t>
            </a:r>
          </a:p>
          <a:p>
            <a:pPr algn="l">
              <a:defRPr sz="2025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B59"/>
                </a:solidFill>
                <a:latin typeface="Arial"/>
                <a:ea typeface="Arial"/>
                <a:cs typeface="Arial"/>
              </a:rPr>
              <a:t>many small jobs at once.”</a:t>
            </a:r>
          </a:p>
        </p:txBody>
      </p:sp>
      <p:sp>
        <p:nvSpPr>
          <p:cNvPr id="11" name="diagram-141">
            <a:extLst>
              <a:ext uri="{FF2B5EF4-FFF2-40B4-BE49-F238E27FC236}">
                <a16:creationId xmlns:a16="http://schemas.microsoft.com/office/drawing/2014/main" id="{76E976F5-12B9-4432-8160-D91C8993D64E}"/>
              </a:ext>
            </a:extLst>
          </p:cNvPr>
          <p:cNvSpPr>
            <a:spLocks noGrp="1"/>
          </p:cNvSpPr>
          <p:nvPr/>
        </p:nvSpPr>
        <p:spPr>
          <a:xfrm>
            <a:off x="5405438" y="37639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12" name="diagram-142">
            <a:extLst>
              <a:ext uri="{FF2B5EF4-FFF2-40B4-BE49-F238E27FC236}">
                <a16:creationId xmlns:a16="http://schemas.microsoft.com/office/drawing/2014/main" id="{F616F1C2-7E64-4271-AF43-8A7D06651F09}"/>
              </a:ext>
            </a:extLst>
          </p:cNvPr>
          <p:cNvSpPr>
            <a:spLocks noGrp="1"/>
          </p:cNvSpPr>
          <p:nvPr/>
        </p:nvSpPr>
        <p:spPr>
          <a:xfrm>
            <a:off x="6053138" y="37639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37" name="Straight Arrow Connector 36"/>
          <p:cNvCxnSpPr>
            <a:stCxn id="11" idx="3"/>
            <a:endCxn id="12" idx="1"/>
          </p:cNvCxnSpPr>
          <p:nvPr/>
        </p:nvCxnSpPr>
        <p:spPr>
          <a:xfrm>
            <a:off x="5414963" y="3768726"/>
            <a:ext cx="638175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 w="sm" len="sm"/>
          </a:ln>
        </p:spPr>
      </p:cxnSp>
      <p:sp>
        <p:nvSpPr>
          <p:cNvPr id="14" name="diagram-143">
            <a:extLst>
              <a:ext uri="{FF2B5EF4-FFF2-40B4-BE49-F238E27FC236}">
                <a16:creationId xmlns:a16="http://schemas.microsoft.com/office/drawing/2014/main" id="{63192D8A-3426-4297-A066-0FDEBC52B2D7}"/>
              </a:ext>
            </a:extLst>
          </p:cNvPr>
          <p:cNvSpPr>
            <a:spLocks noGrp="1"/>
          </p:cNvSpPr>
          <p:nvPr/>
        </p:nvSpPr>
        <p:spPr>
          <a:xfrm>
            <a:off x="571500" y="4587875"/>
            <a:ext cx="4667250" cy="866775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  <p:txBody>
          <a:bodyPr/>
          <a:lstStyle/>
          <a:p>
            <a:endParaRPr lang="en-CH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4878387"/>
            <a:ext cx="285750" cy="285750"/>
          </a:xfrm>
          <a:prstGeom prst="rect">
            <a:avLst/>
          </a:prstGeom>
        </p:spPr>
      </p:pic>
      <p:sp>
        <p:nvSpPr>
          <p:cNvPr id="16" name="text-144">
            <a:extLst>
              <a:ext uri="{FF2B5EF4-FFF2-40B4-BE49-F238E27FC236}">
                <a16:creationId xmlns:a16="http://schemas.microsoft.com/office/drawing/2014/main" id="{62194DC8-8E2B-4865-964F-84056CB95986}"/>
              </a:ext>
            </a:extLst>
          </p:cNvPr>
          <p:cNvSpPr>
            <a:spLocks noGrp="1"/>
          </p:cNvSpPr>
          <p:nvPr/>
        </p:nvSpPr>
        <p:spPr>
          <a:xfrm>
            <a:off x="1114425" y="4835525"/>
            <a:ext cx="398145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A4A"/>
                </a:solidFill>
                <a:latin typeface="Arial"/>
                <a:ea typeface="Arial"/>
                <a:cs typeface="Arial"/>
              </a:rPr>
              <a:t>Use technical language</a:t>
            </a:r>
          </a:p>
        </p:txBody>
      </p:sp>
      <p:sp>
        <p:nvSpPr>
          <p:cNvPr id="17" name="text-145">
            <a:extLst>
              <a:ext uri="{FF2B5EF4-FFF2-40B4-BE49-F238E27FC236}">
                <a16:creationId xmlns:a16="http://schemas.microsoft.com/office/drawing/2014/main" id="{60C33E5D-7561-41B6-9EA0-2731A061A983}"/>
              </a:ext>
            </a:extLst>
          </p:cNvPr>
          <p:cNvSpPr>
            <a:spLocks noGrp="1"/>
          </p:cNvSpPr>
          <p:nvPr/>
        </p:nvSpPr>
        <p:spPr>
          <a:xfrm>
            <a:off x="6324600" y="4568825"/>
            <a:ext cx="5200650" cy="866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B59"/>
                </a:solidFill>
                <a:latin typeface="Arial"/>
                <a:ea typeface="Arial"/>
                <a:cs typeface="Arial"/>
              </a:rPr>
              <a:t>“A processor designed for</a:t>
            </a:r>
          </a:p>
          <a:p>
            <a:pPr algn="l">
              <a:defRPr sz="2025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B59"/>
                </a:solidFill>
                <a:latin typeface="Arial"/>
                <a:ea typeface="Arial"/>
                <a:cs typeface="Arial"/>
              </a:rPr>
              <a:t>parallel numerical operations.”</a:t>
            </a:r>
          </a:p>
        </p:txBody>
      </p:sp>
      <p:sp>
        <p:nvSpPr>
          <p:cNvPr id="18" name="diagram-146">
            <a:extLst>
              <a:ext uri="{FF2B5EF4-FFF2-40B4-BE49-F238E27FC236}">
                <a16:creationId xmlns:a16="http://schemas.microsoft.com/office/drawing/2014/main" id="{1E167869-7312-4941-993F-E796166FA432}"/>
              </a:ext>
            </a:extLst>
          </p:cNvPr>
          <p:cNvSpPr>
            <a:spLocks noGrp="1"/>
          </p:cNvSpPr>
          <p:nvPr/>
        </p:nvSpPr>
        <p:spPr>
          <a:xfrm>
            <a:off x="5405438" y="50117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19" name="diagram-147">
            <a:extLst>
              <a:ext uri="{FF2B5EF4-FFF2-40B4-BE49-F238E27FC236}">
                <a16:creationId xmlns:a16="http://schemas.microsoft.com/office/drawing/2014/main" id="{77FB05D1-4884-498B-BD49-7CDBEA9537A2}"/>
              </a:ext>
            </a:extLst>
          </p:cNvPr>
          <p:cNvSpPr>
            <a:spLocks noGrp="1"/>
          </p:cNvSpPr>
          <p:nvPr/>
        </p:nvSpPr>
        <p:spPr>
          <a:xfrm>
            <a:off x="6053138" y="50117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44" name="Straight Arrow Connector 43"/>
          <p:cNvCxnSpPr>
            <a:stCxn id="18" idx="3"/>
            <a:endCxn id="19" idx="1"/>
          </p:cNvCxnSpPr>
          <p:nvPr/>
        </p:nvCxnSpPr>
        <p:spPr>
          <a:xfrm>
            <a:off x="5414963" y="5016501"/>
            <a:ext cx="638175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 w="sm" len="sm"/>
          </a:ln>
        </p:spPr>
      </p:cxnSp>
      <p:sp>
        <p:nvSpPr>
          <p:cNvPr id="21" name="diagram-148">
            <a:extLst>
              <a:ext uri="{FF2B5EF4-FFF2-40B4-BE49-F238E27FC236}">
                <a16:creationId xmlns:a16="http://schemas.microsoft.com/office/drawing/2014/main" id="{9758B24B-04A2-4F31-A602-3E67C65797C4}"/>
              </a:ext>
            </a:extLst>
          </p:cNvPr>
          <p:cNvSpPr>
            <a:spLocks noGrp="1"/>
          </p:cNvSpPr>
          <p:nvPr/>
        </p:nvSpPr>
        <p:spPr>
          <a:xfrm>
            <a:off x="566738" y="57959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22" name="diagram-149">
            <a:extLst>
              <a:ext uri="{FF2B5EF4-FFF2-40B4-BE49-F238E27FC236}">
                <a16:creationId xmlns:a16="http://schemas.microsoft.com/office/drawing/2014/main" id="{4CDEAD03-D581-4757-A731-2A67D83965C2}"/>
              </a:ext>
            </a:extLst>
          </p:cNvPr>
          <p:cNvSpPr>
            <a:spLocks noGrp="1"/>
          </p:cNvSpPr>
          <p:nvPr/>
        </p:nvSpPr>
        <p:spPr>
          <a:xfrm>
            <a:off x="11615738" y="57959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45" name="Footer Rule"/>
          <p:cNvCxnSpPr/>
          <p:nvPr/>
        </p:nvCxnSpPr>
        <p:spPr>
          <a:xfrm>
            <a:off x="576263" y="5800726"/>
            <a:ext cx="11039475" cy="0"/>
          </a:xfrm>
          <a:prstGeom prst="straightConnector1">
            <a:avLst/>
          </a:prstGeom>
          <a:ln w="9525">
            <a:solidFill>
              <a:srgbClr val="B6C3CB"/>
            </a:solidFill>
            <a:prstDash val="solid"/>
          </a:ln>
        </p:spPr>
      </p:cxnSp>
      <p:sp>
        <p:nvSpPr>
          <p:cNvPr id="46" name="text-footer"/>
          <p:cNvSpPr>
            <a:spLocks noGrp="1"/>
          </p:cNvSpPr>
          <p:nvPr/>
        </p:nvSpPr>
        <p:spPr>
          <a:xfrm>
            <a:off x="571500" y="5924550"/>
            <a:ext cx="110490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For voice, the default prompt asks for short, plain-text sentences.</a:t>
            </a:r>
          </a:p>
        </p:txBody>
      </p:sp>
    </p:spTree>
    <p:extLst>
      <p:ext uri="{BB962C8B-B14F-4D97-AF65-F5344CB8AC3E}">
        <p14:creationId xmlns:p14="http://schemas.microsoft.com/office/powerpoint/2010/main" val="1701603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-186">
            <a:extLst>
              <a:ext uri="{FF2B5EF4-FFF2-40B4-BE49-F238E27FC236}">
                <a16:creationId xmlns:a16="http://schemas.microsoft.com/office/drawing/2014/main" id="{ACAAB5BB-3CF5-4C6B-A0C0-DD3154FA0315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3A4A"/>
                </a:solidFill>
                <a:latin typeface="Arial"/>
                <a:ea typeface="Arial"/>
                <a:cs typeface="Arial"/>
              </a:rPr>
              <a:t>Short-Term and Long-Term Memory</a:t>
            </a:r>
          </a:p>
        </p:txBody>
      </p:sp>
      <p:sp>
        <p:nvSpPr>
          <p:cNvPr id="2" name="text-187">
            <a:extLst>
              <a:ext uri="{FF2B5EF4-FFF2-40B4-BE49-F238E27FC236}">
                <a16:creationId xmlns:a16="http://schemas.microsoft.com/office/drawing/2014/main" id="{5ADB94D8-2131-4707-83CA-D60AD97E3D15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lang="en-CH" sz="1875" dirty="0">
                <a:solidFill>
                  <a:srgbClr val="60717C"/>
                </a:solidFill>
                <a:latin typeface="Arial"/>
              </a:rPr>
              <a:t>Recent messages provide context for follow-up questions. </a:t>
            </a:r>
            <a:endParaRPr lang="en-US" sz="1875" dirty="0">
              <a:solidFill>
                <a:srgbClr val="60717C"/>
              </a:solidFill>
              <a:latin typeface="Arial"/>
            </a:endParaRPr>
          </a:p>
          <a:p>
            <a:pPr>
              <a:defRPr sz="18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lang="en-CH" sz="1875" dirty="0">
                <a:solidFill>
                  <a:srgbClr val="60717C"/>
                </a:solidFill>
                <a:latin typeface="Arial"/>
              </a:rPr>
              <a:t>A saved summary preserves selected information for future sessions.</a:t>
            </a:r>
            <a:endParaRPr sz="1875" b="0" dirty="0">
              <a:solidFill>
                <a:srgbClr val="60717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-188">
            <a:extLst>
              <a:ext uri="{FF2B5EF4-FFF2-40B4-BE49-F238E27FC236}">
                <a16:creationId xmlns:a16="http://schemas.microsoft.com/office/drawing/2014/main" id="{F0D1C826-CBF8-4E29-B26F-4182EE0B007A}"/>
              </a:ext>
            </a:extLst>
          </p:cNvPr>
          <p:cNvSpPr>
            <a:spLocks noGrp="1"/>
          </p:cNvSpPr>
          <p:nvPr/>
        </p:nvSpPr>
        <p:spPr>
          <a:xfrm>
            <a:off x="11096625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text-189">
            <a:extLst>
              <a:ext uri="{FF2B5EF4-FFF2-40B4-BE49-F238E27FC236}">
                <a16:creationId xmlns:a16="http://schemas.microsoft.com/office/drawing/2014/main" id="{D709B43A-C2B2-4B9A-A82A-B80CDA44BAA2}"/>
              </a:ext>
            </a:extLst>
          </p:cNvPr>
          <p:cNvSpPr>
            <a:spLocks noGrp="1"/>
          </p:cNvSpPr>
          <p:nvPr/>
        </p:nvSpPr>
        <p:spPr>
          <a:xfrm>
            <a:off x="4124325" y="1952625"/>
            <a:ext cx="34480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Current </a:t>
            </a:r>
            <a:r>
              <a:rPr lang="en-US"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S</a:t>
            </a:r>
            <a:r>
              <a:rPr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ession</a:t>
            </a:r>
          </a:p>
        </p:txBody>
      </p:sp>
      <p:sp>
        <p:nvSpPr>
          <p:cNvPr id="5" name="text-190">
            <a:extLst>
              <a:ext uri="{FF2B5EF4-FFF2-40B4-BE49-F238E27FC236}">
                <a16:creationId xmlns:a16="http://schemas.microsoft.com/office/drawing/2014/main" id="{19F8BDAF-F30D-46E9-8644-54D0D2D7E043}"/>
              </a:ext>
            </a:extLst>
          </p:cNvPr>
          <p:cNvSpPr>
            <a:spLocks noGrp="1"/>
          </p:cNvSpPr>
          <p:nvPr/>
        </p:nvSpPr>
        <p:spPr>
          <a:xfrm>
            <a:off x="8696325" y="1952625"/>
            <a:ext cx="27241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Next </a:t>
            </a:r>
            <a:r>
              <a:rPr lang="en-US"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S</a:t>
            </a:r>
            <a:r>
              <a:rPr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ession</a:t>
            </a:r>
          </a:p>
        </p:txBody>
      </p:sp>
      <p:sp>
        <p:nvSpPr>
          <p:cNvPr id="6" name="diagram-191">
            <a:extLst>
              <a:ext uri="{FF2B5EF4-FFF2-40B4-BE49-F238E27FC236}">
                <a16:creationId xmlns:a16="http://schemas.microsoft.com/office/drawing/2014/main" id="{85C63274-3A46-400E-9C4C-1C529B7D7DB3}"/>
              </a:ext>
            </a:extLst>
          </p:cNvPr>
          <p:cNvSpPr>
            <a:spLocks noGrp="1"/>
          </p:cNvSpPr>
          <p:nvPr/>
        </p:nvSpPr>
        <p:spPr>
          <a:xfrm>
            <a:off x="8129588" y="23764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7" name="diagram-192">
            <a:extLst>
              <a:ext uri="{FF2B5EF4-FFF2-40B4-BE49-F238E27FC236}">
                <a16:creationId xmlns:a16="http://schemas.microsoft.com/office/drawing/2014/main" id="{8EB24DFF-8181-477B-849C-F67FDAB03398}"/>
              </a:ext>
            </a:extLst>
          </p:cNvPr>
          <p:cNvSpPr>
            <a:spLocks noGrp="1"/>
          </p:cNvSpPr>
          <p:nvPr/>
        </p:nvSpPr>
        <p:spPr>
          <a:xfrm>
            <a:off x="8129588" y="50244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39" name="Straight Arrow Connector 38"/>
          <p:cNvCxnSpPr>
            <a:stCxn id="6" idx="2"/>
            <a:endCxn id="7" idx="0"/>
          </p:cNvCxnSpPr>
          <p:nvPr/>
        </p:nvCxnSpPr>
        <p:spPr>
          <a:xfrm>
            <a:off x="8134351" y="2386013"/>
            <a:ext cx="0" cy="2638425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</a:ln>
        </p:spPr>
      </p:cxnSp>
      <p:sp>
        <p:nvSpPr>
          <p:cNvPr id="9" name="text-193">
            <a:extLst>
              <a:ext uri="{FF2B5EF4-FFF2-40B4-BE49-F238E27FC236}">
                <a16:creationId xmlns:a16="http://schemas.microsoft.com/office/drawing/2014/main" id="{89D602CA-533E-4140-9584-3590EFABBC85}"/>
              </a:ext>
            </a:extLst>
          </p:cNvPr>
          <p:cNvSpPr>
            <a:spLocks noGrp="1"/>
          </p:cNvSpPr>
          <p:nvPr/>
        </p:nvSpPr>
        <p:spPr>
          <a:xfrm>
            <a:off x="7553325" y="5153025"/>
            <a:ext cx="11811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1025" y="2714625"/>
            <a:ext cx="381000" cy="381000"/>
          </a:xfrm>
          <a:prstGeom prst="rect">
            <a:avLst/>
          </a:prstGeom>
        </p:spPr>
      </p:pic>
      <p:sp>
        <p:nvSpPr>
          <p:cNvPr id="11" name="text-194">
            <a:extLst>
              <a:ext uri="{FF2B5EF4-FFF2-40B4-BE49-F238E27FC236}">
                <a16:creationId xmlns:a16="http://schemas.microsoft.com/office/drawing/2014/main" id="{92F3D2E5-14D4-46D8-B1CE-14B87F9E656E}"/>
              </a:ext>
            </a:extLst>
          </p:cNvPr>
          <p:cNvSpPr>
            <a:spLocks noGrp="1"/>
          </p:cNvSpPr>
          <p:nvPr/>
        </p:nvSpPr>
        <p:spPr>
          <a:xfrm>
            <a:off x="1143000" y="2600325"/>
            <a:ext cx="2933700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Short-</a:t>
            </a:r>
            <a:r>
              <a:rPr lang="en-US"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T</a:t>
            </a:r>
            <a:r>
              <a:rPr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erm </a:t>
            </a:r>
            <a:r>
              <a:rPr lang="en-US"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D</a:t>
            </a:r>
            <a:r>
              <a:rPr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ialogue</a:t>
            </a:r>
          </a:p>
        </p:txBody>
      </p:sp>
      <p:sp>
        <p:nvSpPr>
          <p:cNvPr id="12" name="text-195">
            <a:extLst>
              <a:ext uri="{FF2B5EF4-FFF2-40B4-BE49-F238E27FC236}">
                <a16:creationId xmlns:a16="http://schemas.microsoft.com/office/drawing/2014/main" id="{601EC55A-384F-4578-96E3-703387F8660E}"/>
              </a:ext>
            </a:extLst>
          </p:cNvPr>
          <p:cNvSpPr>
            <a:spLocks noGrp="1"/>
          </p:cNvSpPr>
          <p:nvPr/>
        </p:nvSpPr>
        <p:spPr>
          <a:xfrm>
            <a:off x="1143000" y="3009900"/>
            <a:ext cx="2943225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44B59"/>
                </a:solidFill>
                <a:latin typeface="Arial"/>
                <a:ea typeface="Arial"/>
                <a:cs typeface="Arial"/>
              </a:rPr>
              <a:t>8 turns by default, within</a:t>
            </a:r>
          </a:p>
          <a:p>
            <a:pPr algn="l">
              <a:defRPr sz="1725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44B59"/>
                </a:solidFill>
                <a:latin typeface="Arial"/>
                <a:ea typeface="Arial"/>
                <a:cs typeface="Arial"/>
              </a:rPr>
              <a:t>the prompt token budget</a:t>
            </a:r>
          </a:p>
        </p:txBody>
      </p:sp>
      <p:sp>
        <p:nvSpPr>
          <p:cNvPr id="13" name="diagram-196">
            <a:extLst>
              <a:ext uri="{FF2B5EF4-FFF2-40B4-BE49-F238E27FC236}">
                <a16:creationId xmlns:a16="http://schemas.microsoft.com/office/drawing/2014/main" id="{B7ED9CF4-334D-4303-91C7-8705712BE921}"/>
              </a:ext>
            </a:extLst>
          </p:cNvPr>
          <p:cNvSpPr>
            <a:spLocks noGrp="1"/>
          </p:cNvSpPr>
          <p:nvPr/>
        </p:nvSpPr>
        <p:spPr>
          <a:xfrm>
            <a:off x="4257675" y="2752725"/>
            <a:ext cx="3371850" cy="542925"/>
          </a:xfrm>
          <a:prstGeom prst="rect">
            <a:avLst/>
          </a:prstGeom>
          <a:solidFill>
            <a:srgbClr val="EEF5F6"/>
          </a:solidFill>
          <a:ln w="19050">
            <a:solidFill>
              <a:schemeClr val="tx1"/>
            </a:solidFill>
          </a:ln>
        </p:spPr>
        <p:txBody>
          <a:bodyPr/>
          <a:lstStyle/>
          <a:p>
            <a:endParaRPr lang="en-CH"/>
          </a:p>
        </p:txBody>
      </p:sp>
      <p:sp>
        <p:nvSpPr>
          <p:cNvPr id="14" name="text-197">
            <a:extLst>
              <a:ext uri="{FF2B5EF4-FFF2-40B4-BE49-F238E27FC236}">
                <a16:creationId xmlns:a16="http://schemas.microsoft.com/office/drawing/2014/main" id="{FCC0980A-9C12-4CE2-8E75-7977C9FC44DF}"/>
              </a:ext>
            </a:extLst>
          </p:cNvPr>
          <p:cNvSpPr>
            <a:spLocks noGrp="1"/>
          </p:cNvSpPr>
          <p:nvPr/>
        </p:nvSpPr>
        <p:spPr>
          <a:xfrm>
            <a:off x="4400550" y="2809875"/>
            <a:ext cx="310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344B59"/>
                </a:solidFill>
                <a:latin typeface="Arial"/>
                <a:ea typeface="Arial"/>
                <a:cs typeface="Arial"/>
              </a:rPr>
              <a:t>Recent </a:t>
            </a:r>
            <a:r>
              <a:rPr lang="en-US" sz="1800" b="0" dirty="0">
                <a:solidFill>
                  <a:srgbClr val="344B59"/>
                </a:solidFill>
                <a:latin typeface="Arial"/>
                <a:ea typeface="Arial"/>
                <a:cs typeface="Arial"/>
              </a:rPr>
              <a:t>C</a:t>
            </a:r>
            <a:r>
              <a:rPr sz="1800" b="0" dirty="0">
                <a:solidFill>
                  <a:srgbClr val="344B59"/>
                </a:solidFill>
                <a:latin typeface="Arial"/>
                <a:ea typeface="Arial"/>
                <a:cs typeface="Arial"/>
              </a:rPr>
              <a:t>onversation</a:t>
            </a:r>
          </a:p>
        </p:txBody>
      </p:sp>
      <p:sp>
        <p:nvSpPr>
          <p:cNvPr id="15" name="diagram-198">
            <a:extLst>
              <a:ext uri="{FF2B5EF4-FFF2-40B4-BE49-F238E27FC236}">
                <a16:creationId xmlns:a16="http://schemas.microsoft.com/office/drawing/2014/main" id="{6873F291-74D1-4F09-B988-F19CB2B55C6F}"/>
              </a:ext>
            </a:extLst>
          </p:cNvPr>
          <p:cNvSpPr>
            <a:spLocks noGrp="1"/>
          </p:cNvSpPr>
          <p:nvPr/>
        </p:nvSpPr>
        <p:spPr>
          <a:xfrm>
            <a:off x="7691438" y="30241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16" name="diagram-199">
            <a:extLst>
              <a:ext uri="{FF2B5EF4-FFF2-40B4-BE49-F238E27FC236}">
                <a16:creationId xmlns:a16="http://schemas.microsoft.com/office/drawing/2014/main" id="{D0B21DE5-0C45-4264-BCC3-5E36131E9107}"/>
              </a:ext>
            </a:extLst>
          </p:cNvPr>
          <p:cNvSpPr>
            <a:spLocks noGrp="1"/>
          </p:cNvSpPr>
          <p:nvPr/>
        </p:nvSpPr>
        <p:spPr>
          <a:xfrm>
            <a:off x="7967663" y="30241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48" name="Straight Arrow Connector 47"/>
          <p:cNvCxnSpPr>
            <a:cxnSpLocks/>
            <a:stCxn id="15" idx="3"/>
          </p:cNvCxnSpPr>
          <p:nvPr/>
        </p:nvCxnSpPr>
        <p:spPr>
          <a:xfrm>
            <a:off x="7700963" y="3028951"/>
            <a:ext cx="344487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</a:ln>
        </p:spPr>
      </p:cxnSp>
      <p:sp>
        <p:nvSpPr>
          <p:cNvPr id="18" name="text-200">
            <a:extLst>
              <a:ext uri="{FF2B5EF4-FFF2-40B4-BE49-F238E27FC236}">
                <a16:creationId xmlns:a16="http://schemas.microsoft.com/office/drawing/2014/main" id="{CB474EDD-DB91-4545-851C-398B80792EF0}"/>
              </a:ext>
            </a:extLst>
          </p:cNvPr>
          <p:cNvSpPr>
            <a:spLocks noGrp="1"/>
          </p:cNvSpPr>
          <p:nvPr/>
        </p:nvSpPr>
        <p:spPr>
          <a:xfrm>
            <a:off x="8858250" y="2809875"/>
            <a:ext cx="24193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344B59"/>
                </a:solidFill>
                <a:latin typeface="Arial"/>
                <a:ea typeface="Arial"/>
                <a:cs typeface="Arial"/>
              </a:rPr>
              <a:t>New history</a:t>
            </a: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81025" y="4238625"/>
            <a:ext cx="381000" cy="381000"/>
          </a:xfrm>
          <a:prstGeom prst="rect">
            <a:avLst/>
          </a:prstGeom>
        </p:spPr>
      </p:pic>
      <p:sp>
        <p:nvSpPr>
          <p:cNvPr id="20" name="text-201">
            <a:extLst>
              <a:ext uri="{FF2B5EF4-FFF2-40B4-BE49-F238E27FC236}">
                <a16:creationId xmlns:a16="http://schemas.microsoft.com/office/drawing/2014/main" id="{76031754-8FAC-4152-B517-6D605AE8CFD5}"/>
              </a:ext>
            </a:extLst>
          </p:cNvPr>
          <p:cNvSpPr>
            <a:spLocks noGrp="1"/>
          </p:cNvSpPr>
          <p:nvPr/>
        </p:nvSpPr>
        <p:spPr>
          <a:xfrm>
            <a:off x="1143000" y="4095750"/>
            <a:ext cx="2933700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Long-</a:t>
            </a:r>
            <a:r>
              <a:rPr lang="en-US"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T</a:t>
            </a:r>
            <a:r>
              <a:rPr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erm </a:t>
            </a:r>
            <a:r>
              <a:rPr lang="en-US"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S</a:t>
            </a:r>
            <a:r>
              <a:rPr sz="187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ummary</a:t>
            </a:r>
          </a:p>
        </p:txBody>
      </p:sp>
      <p:sp>
        <p:nvSpPr>
          <p:cNvPr id="21" name="text-202">
            <a:extLst>
              <a:ext uri="{FF2B5EF4-FFF2-40B4-BE49-F238E27FC236}">
                <a16:creationId xmlns:a16="http://schemas.microsoft.com/office/drawing/2014/main" id="{BF5D635D-5801-4E9B-99CF-FA7F948FD4D1}"/>
              </a:ext>
            </a:extLst>
          </p:cNvPr>
          <p:cNvSpPr>
            <a:spLocks noGrp="1"/>
          </p:cNvSpPr>
          <p:nvPr/>
        </p:nvSpPr>
        <p:spPr>
          <a:xfrm>
            <a:off x="1143000" y="4505325"/>
            <a:ext cx="2943225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44B59"/>
                </a:solidFill>
                <a:latin typeface="Arial"/>
                <a:ea typeface="Arial"/>
                <a:cs typeface="Arial"/>
              </a:rPr>
              <a:t>Selected explicit facts</a:t>
            </a:r>
          </a:p>
          <a:p>
            <a:pPr algn="l">
              <a:defRPr sz="1725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44B59"/>
                </a:solidFill>
                <a:latin typeface="Arial"/>
                <a:ea typeface="Arial"/>
                <a:cs typeface="Arial"/>
              </a:rPr>
              <a:t>saved as bounded JSON</a:t>
            </a:r>
          </a:p>
        </p:txBody>
      </p:sp>
      <p:sp>
        <p:nvSpPr>
          <p:cNvPr id="22" name="diagram-203">
            <a:extLst>
              <a:ext uri="{FF2B5EF4-FFF2-40B4-BE49-F238E27FC236}">
                <a16:creationId xmlns:a16="http://schemas.microsoft.com/office/drawing/2014/main" id="{2464683D-22C1-4BB3-969D-FC87771C819A}"/>
              </a:ext>
            </a:extLst>
          </p:cNvPr>
          <p:cNvSpPr>
            <a:spLocks noGrp="1"/>
          </p:cNvSpPr>
          <p:nvPr/>
        </p:nvSpPr>
        <p:spPr>
          <a:xfrm>
            <a:off x="4257675" y="4248150"/>
            <a:ext cx="3371850" cy="5429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-204">
            <a:extLst>
              <a:ext uri="{FF2B5EF4-FFF2-40B4-BE49-F238E27FC236}">
                <a16:creationId xmlns:a16="http://schemas.microsoft.com/office/drawing/2014/main" id="{8B713F92-83D8-402E-A2D0-D6960C2DE099}"/>
              </a:ext>
            </a:extLst>
          </p:cNvPr>
          <p:cNvSpPr>
            <a:spLocks noGrp="1"/>
          </p:cNvSpPr>
          <p:nvPr/>
        </p:nvSpPr>
        <p:spPr>
          <a:xfrm>
            <a:off x="4400550" y="4305300"/>
            <a:ext cx="310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344B59"/>
                </a:solidFill>
                <a:latin typeface="Arial"/>
                <a:ea typeface="Arial"/>
                <a:cs typeface="Arial"/>
              </a:rPr>
              <a:t>Persistent </a:t>
            </a:r>
            <a:r>
              <a:rPr lang="en-US" sz="1800" b="0" dirty="0">
                <a:solidFill>
                  <a:srgbClr val="344B59"/>
                </a:solidFill>
                <a:latin typeface="Arial"/>
                <a:ea typeface="Arial"/>
                <a:cs typeface="Arial"/>
              </a:rPr>
              <a:t>S</a:t>
            </a:r>
            <a:r>
              <a:rPr sz="1800" b="0" dirty="0">
                <a:solidFill>
                  <a:srgbClr val="344B59"/>
                </a:solidFill>
                <a:latin typeface="Arial"/>
                <a:ea typeface="Arial"/>
                <a:cs typeface="Arial"/>
              </a:rPr>
              <a:t>ummary</a:t>
            </a:r>
          </a:p>
        </p:txBody>
      </p:sp>
      <p:sp>
        <p:nvSpPr>
          <p:cNvPr id="24" name="diagram-205">
            <a:extLst>
              <a:ext uri="{FF2B5EF4-FFF2-40B4-BE49-F238E27FC236}">
                <a16:creationId xmlns:a16="http://schemas.microsoft.com/office/drawing/2014/main" id="{98D934A8-49A0-48FF-B443-7719DD5D5219}"/>
              </a:ext>
            </a:extLst>
          </p:cNvPr>
          <p:cNvSpPr>
            <a:spLocks noGrp="1"/>
          </p:cNvSpPr>
          <p:nvPr/>
        </p:nvSpPr>
        <p:spPr>
          <a:xfrm>
            <a:off x="7700963" y="45196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25" name="diagram-206">
            <a:extLst>
              <a:ext uri="{FF2B5EF4-FFF2-40B4-BE49-F238E27FC236}">
                <a16:creationId xmlns:a16="http://schemas.microsoft.com/office/drawing/2014/main" id="{18C3F0D2-C3D9-4D8F-AD13-04289C1A2473}"/>
              </a:ext>
            </a:extLst>
          </p:cNvPr>
          <p:cNvSpPr>
            <a:spLocks noGrp="1"/>
          </p:cNvSpPr>
          <p:nvPr/>
        </p:nvSpPr>
        <p:spPr>
          <a:xfrm>
            <a:off x="8815388" y="45196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57" name="Straight Arrow Connector 56"/>
          <p:cNvCxnSpPr>
            <a:stCxn id="24" idx="3"/>
            <a:endCxn id="25" idx="1"/>
          </p:cNvCxnSpPr>
          <p:nvPr/>
        </p:nvCxnSpPr>
        <p:spPr>
          <a:xfrm>
            <a:off x="7710488" y="4524376"/>
            <a:ext cx="1104900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 w="sm" len="sm"/>
          </a:ln>
        </p:spPr>
      </p:cxnSp>
      <p:sp>
        <p:nvSpPr>
          <p:cNvPr id="27" name="text-207">
            <a:extLst>
              <a:ext uri="{FF2B5EF4-FFF2-40B4-BE49-F238E27FC236}">
                <a16:creationId xmlns:a16="http://schemas.microsoft.com/office/drawing/2014/main" id="{4B7ED763-00F2-4903-8911-A628F3890EFF}"/>
              </a:ext>
            </a:extLst>
          </p:cNvPr>
          <p:cNvSpPr>
            <a:spLocks noGrp="1"/>
          </p:cNvSpPr>
          <p:nvPr/>
        </p:nvSpPr>
        <p:spPr>
          <a:xfrm>
            <a:off x="8858250" y="4305300"/>
            <a:ext cx="24765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B59"/>
                </a:solidFill>
                <a:latin typeface="Arial"/>
                <a:ea typeface="Arial"/>
                <a:cs typeface="Arial"/>
              </a:rPr>
              <a:t>Restored context</a:t>
            </a:r>
          </a:p>
        </p:txBody>
      </p:sp>
      <p:sp>
        <p:nvSpPr>
          <p:cNvPr id="28" name="diagram-208">
            <a:extLst>
              <a:ext uri="{FF2B5EF4-FFF2-40B4-BE49-F238E27FC236}">
                <a16:creationId xmlns:a16="http://schemas.microsoft.com/office/drawing/2014/main" id="{59038CE0-9156-4B62-800D-24C5EACEA7F4}"/>
              </a:ext>
            </a:extLst>
          </p:cNvPr>
          <p:cNvSpPr>
            <a:spLocks noGrp="1"/>
          </p:cNvSpPr>
          <p:nvPr/>
        </p:nvSpPr>
        <p:spPr>
          <a:xfrm>
            <a:off x="566738" y="57959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29" name="diagram-209">
            <a:extLst>
              <a:ext uri="{FF2B5EF4-FFF2-40B4-BE49-F238E27FC236}">
                <a16:creationId xmlns:a16="http://schemas.microsoft.com/office/drawing/2014/main" id="{EACD6A33-AB89-43DF-8B97-00A4B9F5E823}"/>
              </a:ext>
            </a:extLst>
          </p:cNvPr>
          <p:cNvSpPr>
            <a:spLocks noGrp="1"/>
          </p:cNvSpPr>
          <p:nvPr/>
        </p:nvSpPr>
        <p:spPr>
          <a:xfrm>
            <a:off x="11615738" y="57959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61" name="Straight Arrow Connector 60"/>
          <p:cNvCxnSpPr>
            <a:stCxn id="28" idx="3"/>
            <a:endCxn id="29" idx="1"/>
          </p:cNvCxnSpPr>
          <p:nvPr/>
        </p:nvCxnSpPr>
        <p:spPr>
          <a:xfrm>
            <a:off x="576263" y="5800726"/>
            <a:ext cx="11039475" cy="0"/>
          </a:xfrm>
          <a:prstGeom prst="straightConnector1">
            <a:avLst/>
          </a:prstGeom>
          <a:ln w="9525">
            <a:solidFill>
              <a:srgbClr val="B6C3CB"/>
            </a:solidFill>
            <a:prstDash val="solid"/>
          </a:ln>
        </p:spPr>
      </p:cxnSp>
      <p:sp>
        <p:nvSpPr>
          <p:cNvPr id="31" name="text-210">
            <a:extLst>
              <a:ext uri="{FF2B5EF4-FFF2-40B4-BE49-F238E27FC236}">
                <a16:creationId xmlns:a16="http://schemas.microsoft.com/office/drawing/2014/main" id="{62FB8708-ED9F-4D88-8DF7-B3A346F1E5DE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Only complete, successfully delivered ordinary turns update durable memory.</a:t>
            </a:r>
          </a:p>
        </p:txBody>
      </p:sp>
    </p:spTree>
    <p:extLst>
      <p:ext uri="{BB962C8B-B14F-4D97-AF65-F5344CB8AC3E}">
        <p14:creationId xmlns:p14="http://schemas.microsoft.com/office/powerpoint/2010/main" val="1203939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-211">
            <a:extLst>
              <a:ext uri="{FF2B5EF4-FFF2-40B4-BE49-F238E27FC236}">
                <a16:creationId xmlns:a16="http://schemas.microsoft.com/office/drawing/2014/main" id="{27B3B7F9-3A0C-427D-AE70-B8D7A9235F03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3A4A"/>
                </a:solidFill>
                <a:latin typeface="Arial"/>
                <a:ea typeface="Arial"/>
                <a:cs typeface="Arial"/>
              </a:rPr>
              <a:t>Barge-In and Cancellation</a:t>
            </a:r>
          </a:p>
        </p:txBody>
      </p:sp>
      <p:sp>
        <p:nvSpPr>
          <p:cNvPr id="2" name="text-212">
            <a:extLst>
              <a:ext uri="{FF2B5EF4-FFF2-40B4-BE49-F238E27FC236}">
                <a16:creationId xmlns:a16="http://schemas.microsoft.com/office/drawing/2014/main" id="{65362C69-7176-40A9-B0A7-4428D425DB10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lang="en-US" sz="1875" dirty="0">
                <a:solidFill>
                  <a:srgbClr val="60717C"/>
                </a:solidFill>
                <a:latin typeface="Arial"/>
              </a:rPr>
              <a:t>T</a:t>
            </a:r>
            <a:r>
              <a:rPr lang="en-CH" sz="1875" dirty="0">
                <a:solidFill>
                  <a:srgbClr val="60717C"/>
                </a:solidFill>
                <a:latin typeface="Arial"/>
              </a:rPr>
              <a:t>he agent keeps listening while it speaks, so the user can interrupt the current reply with a new request.</a:t>
            </a:r>
            <a:endParaRPr sz="1875" b="0" dirty="0">
              <a:solidFill>
                <a:srgbClr val="60717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-213">
            <a:extLst>
              <a:ext uri="{FF2B5EF4-FFF2-40B4-BE49-F238E27FC236}">
                <a16:creationId xmlns:a16="http://schemas.microsoft.com/office/drawing/2014/main" id="{BA6BB91C-D361-4C24-859A-4542DA2FA27F}"/>
              </a:ext>
            </a:extLst>
          </p:cNvPr>
          <p:cNvSpPr>
            <a:spLocks noGrp="1"/>
          </p:cNvSpPr>
          <p:nvPr/>
        </p:nvSpPr>
        <p:spPr>
          <a:xfrm>
            <a:off x="11096625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" y="2286000"/>
            <a:ext cx="314325" cy="314325"/>
          </a:xfrm>
          <a:prstGeom prst="rect">
            <a:avLst/>
          </a:prstGeom>
        </p:spPr>
      </p:pic>
      <p:sp>
        <p:nvSpPr>
          <p:cNvPr id="5" name="text-214">
            <a:extLst>
              <a:ext uri="{FF2B5EF4-FFF2-40B4-BE49-F238E27FC236}">
                <a16:creationId xmlns:a16="http://schemas.microsoft.com/office/drawing/2014/main" id="{094388F0-4ADD-4155-A4A5-F271B07B6E1F}"/>
              </a:ext>
            </a:extLst>
          </p:cNvPr>
          <p:cNvSpPr>
            <a:spLocks noGrp="1"/>
          </p:cNvSpPr>
          <p:nvPr/>
        </p:nvSpPr>
        <p:spPr>
          <a:xfrm>
            <a:off x="1085850" y="2238375"/>
            <a:ext cx="12287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13A4A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90550" y="3133725"/>
            <a:ext cx="314325" cy="314325"/>
          </a:xfrm>
          <a:prstGeom prst="rect">
            <a:avLst/>
          </a:prstGeom>
        </p:spPr>
      </p:pic>
      <p:sp>
        <p:nvSpPr>
          <p:cNvPr id="7" name="text-215">
            <a:extLst>
              <a:ext uri="{FF2B5EF4-FFF2-40B4-BE49-F238E27FC236}">
                <a16:creationId xmlns:a16="http://schemas.microsoft.com/office/drawing/2014/main" id="{D59647AA-545D-4D64-81BB-0D76B3C4AD5F}"/>
              </a:ext>
            </a:extLst>
          </p:cNvPr>
          <p:cNvSpPr>
            <a:spLocks noGrp="1"/>
          </p:cNvSpPr>
          <p:nvPr/>
        </p:nvSpPr>
        <p:spPr>
          <a:xfrm>
            <a:off x="1085850" y="3086100"/>
            <a:ext cx="12287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13A4A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8" name="diagram-216">
            <a:extLst>
              <a:ext uri="{FF2B5EF4-FFF2-40B4-BE49-F238E27FC236}">
                <a16:creationId xmlns:a16="http://schemas.microsoft.com/office/drawing/2014/main" id="{59B67D5A-DEBD-4399-8897-83DD190F7B3D}"/>
              </a:ext>
            </a:extLst>
          </p:cNvPr>
          <p:cNvSpPr>
            <a:spLocks noGrp="1"/>
          </p:cNvSpPr>
          <p:nvPr/>
        </p:nvSpPr>
        <p:spPr>
          <a:xfrm>
            <a:off x="2471738" y="26717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9" name="diagram-217">
            <a:extLst>
              <a:ext uri="{FF2B5EF4-FFF2-40B4-BE49-F238E27FC236}">
                <a16:creationId xmlns:a16="http://schemas.microsoft.com/office/drawing/2014/main" id="{D04CCBE2-7BE8-4FE4-BD93-FF13BA5D860D}"/>
              </a:ext>
            </a:extLst>
          </p:cNvPr>
          <p:cNvSpPr>
            <a:spLocks noGrp="1"/>
          </p:cNvSpPr>
          <p:nvPr/>
        </p:nvSpPr>
        <p:spPr>
          <a:xfrm>
            <a:off x="11501438" y="26717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50" name="Straight Arrow Connector 49"/>
          <p:cNvCxnSpPr>
            <a:stCxn id="8" idx="3"/>
            <a:endCxn id="9" idx="1"/>
          </p:cNvCxnSpPr>
          <p:nvPr/>
        </p:nvCxnSpPr>
        <p:spPr>
          <a:xfrm>
            <a:off x="2481263" y="2676526"/>
            <a:ext cx="9020175" cy="0"/>
          </a:xfrm>
          <a:prstGeom prst="straightConnector1">
            <a:avLst/>
          </a:prstGeom>
          <a:ln w="16193">
            <a:solidFill>
              <a:srgbClr val="B6C3CB"/>
            </a:solidFill>
            <a:prstDash val="solid"/>
            <a:tailEnd type="triangle" w="sm" len="sm"/>
          </a:ln>
        </p:spPr>
      </p:cxnSp>
      <p:sp>
        <p:nvSpPr>
          <p:cNvPr id="11" name="diagram-218">
            <a:extLst>
              <a:ext uri="{FF2B5EF4-FFF2-40B4-BE49-F238E27FC236}">
                <a16:creationId xmlns:a16="http://schemas.microsoft.com/office/drawing/2014/main" id="{74A88C11-23FC-4E33-89AD-E37A90C8293B}"/>
              </a:ext>
            </a:extLst>
          </p:cNvPr>
          <p:cNvSpPr>
            <a:spLocks noGrp="1"/>
          </p:cNvSpPr>
          <p:nvPr/>
        </p:nvSpPr>
        <p:spPr>
          <a:xfrm>
            <a:off x="2471738" y="35194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12" name="diagram-219">
            <a:extLst>
              <a:ext uri="{FF2B5EF4-FFF2-40B4-BE49-F238E27FC236}">
                <a16:creationId xmlns:a16="http://schemas.microsoft.com/office/drawing/2014/main" id="{DB6ECC77-D156-4D7B-AD61-3DEA0290A1E6}"/>
              </a:ext>
            </a:extLst>
          </p:cNvPr>
          <p:cNvSpPr>
            <a:spLocks noGrp="1"/>
          </p:cNvSpPr>
          <p:nvPr/>
        </p:nvSpPr>
        <p:spPr>
          <a:xfrm>
            <a:off x="11501438" y="35194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53" name="Straight Arrow Connector 52"/>
          <p:cNvCxnSpPr>
            <a:stCxn id="11" idx="3"/>
            <a:endCxn id="12" idx="1"/>
          </p:cNvCxnSpPr>
          <p:nvPr/>
        </p:nvCxnSpPr>
        <p:spPr>
          <a:xfrm>
            <a:off x="2481263" y="3524251"/>
            <a:ext cx="9020175" cy="0"/>
          </a:xfrm>
          <a:prstGeom prst="straightConnector1">
            <a:avLst/>
          </a:prstGeom>
          <a:ln w="16193">
            <a:solidFill>
              <a:srgbClr val="B6C3CB"/>
            </a:solidFill>
            <a:prstDash val="solid"/>
            <a:tailEnd type="triangle" w="sm" len="sm"/>
          </a:ln>
        </p:spPr>
      </p:cxnSp>
      <p:sp>
        <p:nvSpPr>
          <p:cNvPr id="14" name="diagram-220">
            <a:extLst>
              <a:ext uri="{FF2B5EF4-FFF2-40B4-BE49-F238E27FC236}">
                <a16:creationId xmlns:a16="http://schemas.microsoft.com/office/drawing/2014/main" id="{BB790AB1-295D-4885-9508-51F1C04E8645}"/>
              </a:ext>
            </a:extLst>
          </p:cNvPr>
          <p:cNvSpPr>
            <a:spLocks noGrp="1"/>
          </p:cNvSpPr>
          <p:nvPr/>
        </p:nvSpPr>
        <p:spPr>
          <a:xfrm>
            <a:off x="2638425" y="2324100"/>
            <a:ext cx="3257550" cy="228600"/>
          </a:xfrm>
          <a:prstGeom prst="rect">
            <a:avLst/>
          </a:prstGeom>
          <a:solidFill>
            <a:srgbClr val="315F88"/>
          </a:solidFill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15" name="diagram-221">
            <a:extLst>
              <a:ext uri="{FF2B5EF4-FFF2-40B4-BE49-F238E27FC236}">
                <a16:creationId xmlns:a16="http://schemas.microsoft.com/office/drawing/2014/main" id="{F3E419E1-A658-47F9-82C5-A5B44C21B23C}"/>
              </a:ext>
            </a:extLst>
          </p:cNvPr>
          <p:cNvSpPr>
            <a:spLocks noGrp="1"/>
          </p:cNvSpPr>
          <p:nvPr/>
        </p:nvSpPr>
        <p:spPr>
          <a:xfrm>
            <a:off x="5934075" y="3181350"/>
            <a:ext cx="2981325" cy="2286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16" name="diagram-222">
            <a:extLst>
              <a:ext uri="{FF2B5EF4-FFF2-40B4-BE49-F238E27FC236}">
                <a16:creationId xmlns:a16="http://schemas.microsoft.com/office/drawing/2014/main" id="{D17FE3FB-46EA-4288-9B0A-1078C3E219A1}"/>
              </a:ext>
            </a:extLst>
          </p:cNvPr>
          <p:cNvSpPr>
            <a:spLocks noGrp="1"/>
          </p:cNvSpPr>
          <p:nvPr/>
        </p:nvSpPr>
        <p:spPr>
          <a:xfrm>
            <a:off x="9848850" y="2324100"/>
            <a:ext cx="1466850" cy="228600"/>
          </a:xfrm>
          <a:prstGeom prst="rect">
            <a:avLst/>
          </a:prstGeom>
          <a:solidFill>
            <a:srgbClr val="315F88"/>
          </a:solidFill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-223">
            <a:extLst>
              <a:ext uri="{FF2B5EF4-FFF2-40B4-BE49-F238E27FC236}">
                <a16:creationId xmlns:a16="http://schemas.microsoft.com/office/drawing/2014/main" id="{9F66A049-CFCB-4452-85E4-E7A937847058}"/>
              </a:ext>
            </a:extLst>
          </p:cNvPr>
          <p:cNvSpPr>
            <a:spLocks noGrp="1"/>
          </p:cNvSpPr>
          <p:nvPr/>
        </p:nvSpPr>
        <p:spPr>
          <a:xfrm>
            <a:off x="3000375" y="192405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Current </a:t>
            </a:r>
            <a:r>
              <a:rPr lang="en-US" sz="1650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R</a:t>
            </a:r>
            <a:r>
              <a:rPr sz="1650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eply</a:t>
            </a:r>
          </a:p>
        </p:txBody>
      </p:sp>
      <p:sp>
        <p:nvSpPr>
          <p:cNvPr id="18" name="text-224">
            <a:extLst>
              <a:ext uri="{FF2B5EF4-FFF2-40B4-BE49-F238E27FC236}">
                <a16:creationId xmlns:a16="http://schemas.microsoft.com/office/drawing/2014/main" id="{8382C7BC-F07A-431D-A068-D6BCCD887C9D}"/>
              </a:ext>
            </a:extLst>
          </p:cNvPr>
          <p:cNvSpPr>
            <a:spLocks noGrp="1"/>
          </p:cNvSpPr>
          <p:nvPr/>
        </p:nvSpPr>
        <p:spPr>
          <a:xfrm>
            <a:off x="6238875" y="3600450"/>
            <a:ext cx="24003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New </a:t>
            </a:r>
            <a:r>
              <a:rPr lang="en-US" sz="1650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Request</a:t>
            </a:r>
            <a:endParaRPr sz="1650" b="0" dirty="0">
              <a:solidFill>
                <a:srgbClr val="60717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text-225">
            <a:extLst>
              <a:ext uri="{FF2B5EF4-FFF2-40B4-BE49-F238E27FC236}">
                <a16:creationId xmlns:a16="http://schemas.microsoft.com/office/drawing/2014/main" id="{6BE81E77-6B77-4835-AD38-D52CD8502DA0}"/>
              </a:ext>
            </a:extLst>
          </p:cNvPr>
          <p:cNvSpPr>
            <a:spLocks noGrp="1"/>
          </p:cNvSpPr>
          <p:nvPr/>
        </p:nvSpPr>
        <p:spPr>
          <a:xfrm>
            <a:off x="9715500" y="192405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New </a:t>
            </a:r>
            <a:r>
              <a:rPr lang="en-US" sz="1650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R</a:t>
            </a:r>
            <a:r>
              <a:rPr sz="1650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eply</a:t>
            </a:r>
          </a:p>
        </p:txBody>
      </p:sp>
      <p:sp>
        <p:nvSpPr>
          <p:cNvPr id="20" name="diagram-226">
            <a:extLst>
              <a:ext uri="{FF2B5EF4-FFF2-40B4-BE49-F238E27FC236}">
                <a16:creationId xmlns:a16="http://schemas.microsoft.com/office/drawing/2014/main" id="{CCE4516B-738D-47F3-B052-FB2FD4250EF2}"/>
              </a:ext>
            </a:extLst>
          </p:cNvPr>
          <p:cNvSpPr>
            <a:spLocks noGrp="1"/>
          </p:cNvSpPr>
          <p:nvPr/>
        </p:nvSpPr>
        <p:spPr>
          <a:xfrm>
            <a:off x="5910263" y="21478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21" name="diagram-227">
            <a:extLst>
              <a:ext uri="{FF2B5EF4-FFF2-40B4-BE49-F238E27FC236}">
                <a16:creationId xmlns:a16="http://schemas.microsoft.com/office/drawing/2014/main" id="{9A8D6EA8-C2AB-4910-B10E-4BC3315A3A3E}"/>
              </a:ext>
            </a:extLst>
          </p:cNvPr>
          <p:cNvSpPr>
            <a:spLocks noGrp="1"/>
          </p:cNvSpPr>
          <p:nvPr/>
        </p:nvSpPr>
        <p:spPr>
          <a:xfrm>
            <a:off x="5910263" y="35290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62" name="Straight Arrow Connector 61"/>
          <p:cNvCxnSpPr>
            <a:stCxn id="20" idx="2"/>
            <a:endCxn id="21" idx="0"/>
          </p:cNvCxnSpPr>
          <p:nvPr/>
        </p:nvCxnSpPr>
        <p:spPr>
          <a:xfrm>
            <a:off x="5915026" y="2157413"/>
            <a:ext cx="0" cy="1371600"/>
          </a:xfrm>
          <a:prstGeom prst="straightConnector1">
            <a:avLst/>
          </a:prstGeom>
          <a:ln w="19050">
            <a:solidFill>
              <a:srgbClr val="A46D23"/>
            </a:solidFill>
            <a:prstDash val="dash"/>
          </a:ln>
        </p:spPr>
      </p:cxnSp>
      <p:sp>
        <p:nvSpPr>
          <p:cNvPr id="23" name="text-228">
            <a:extLst>
              <a:ext uri="{FF2B5EF4-FFF2-40B4-BE49-F238E27FC236}">
                <a16:creationId xmlns:a16="http://schemas.microsoft.com/office/drawing/2014/main" id="{EF8E6F03-2C79-4E8A-999B-8F6414C2E38C}"/>
              </a:ext>
            </a:extLst>
          </p:cNvPr>
          <p:cNvSpPr>
            <a:spLocks noGrp="1"/>
          </p:cNvSpPr>
          <p:nvPr/>
        </p:nvSpPr>
        <p:spPr>
          <a:xfrm>
            <a:off x="5162550" y="1733550"/>
            <a:ext cx="15525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A46D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46D23"/>
                </a:solidFill>
                <a:latin typeface="Arial"/>
                <a:ea typeface="Arial"/>
                <a:cs typeface="Arial"/>
              </a:rPr>
              <a:t>Interruption</a:t>
            </a:r>
          </a:p>
        </p:txBody>
      </p:sp>
      <p:sp>
        <p:nvSpPr>
          <p:cNvPr id="25" name="text-230">
            <a:extLst>
              <a:ext uri="{FF2B5EF4-FFF2-40B4-BE49-F238E27FC236}">
                <a16:creationId xmlns:a16="http://schemas.microsoft.com/office/drawing/2014/main" id="{79C99561-6DF9-4106-B8DD-442FF37F257F}"/>
              </a:ext>
            </a:extLst>
          </p:cNvPr>
          <p:cNvSpPr>
            <a:spLocks noGrp="1"/>
          </p:cNvSpPr>
          <p:nvPr/>
        </p:nvSpPr>
        <p:spPr>
          <a:xfrm>
            <a:off x="3328416" y="4391025"/>
            <a:ext cx="260604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2</a:t>
            </a:r>
            <a:r>
              <a:rPr lang="en-US"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.</a:t>
            </a:r>
            <a:r>
              <a:rPr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 Cancel</a:t>
            </a:r>
          </a:p>
        </p:txBody>
      </p:sp>
      <p:sp>
        <p:nvSpPr>
          <p:cNvPr id="80" name="text-detect-header"/>
          <p:cNvSpPr>
            <a:spLocks noGrp="1"/>
          </p:cNvSpPr>
          <p:nvPr/>
        </p:nvSpPr>
        <p:spPr>
          <a:xfrm>
            <a:off x="566928" y="4391025"/>
            <a:ext cx="260604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.</a:t>
            </a:r>
            <a:r>
              <a:rPr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 Detect</a:t>
            </a:r>
          </a:p>
        </p:txBody>
      </p:sp>
      <p:sp>
        <p:nvSpPr>
          <p:cNvPr id="26" name="text-231">
            <a:extLst>
              <a:ext uri="{FF2B5EF4-FFF2-40B4-BE49-F238E27FC236}">
                <a16:creationId xmlns:a16="http://schemas.microsoft.com/office/drawing/2014/main" id="{5904A5D5-EAE5-4D55-8B96-BCCA5EA33A44}"/>
              </a:ext>
            </a:extLst>
          </p:cNvPr>
          <p:cNvSpPr>
            <a:spLocks noGrp="1"/>
          </p:cNvSpPr>
          <p:nvPr/>
        </p:nvSpPr>
        <p:spPr>
          <a:xfrm>
            <a:off x="3328416" y="4848225"/>
            <a:ext cx="260604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44B59"/>
                </a:solidFill>
                <a:latin typeface="Arial"/>
                <a:ea typeface="Arial"/>
                <a:cs typeface="Arial"/>
              </a:rPr>
              <a:t>Signal model and</a:t>
            </a:r>
          </a:p>
          <a:p>
            <a:pPr algn="l">
              <a:defRPr sz="1725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44B59"/>
                </a:solidFill>
                <a:latin typeface="Arial"/>
                <a:ea typeface="Arial"/>
                <a:cs typeface="Arial"/>
              </a:rPr>
              <a:t>playback to stop.</a:t>
            </a:r>
          </a:p>
        </p:txBody>
      </p:sp>
      <p:sp>
        <p:nvSpPr>
          <p:cNvPr id="81" name="text-detect-body"/>
          <p:cNvSpPr>
            <a:spLocks noGrp="1"/>
          </p:cNvSpPr>
          <p:nvPr/>
        </p:nvSpPr>
        <p:spPr>
          <a:xfrm>
            <a:off x="566928" y="4848225"/>
            <a:ext cx="260604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44B59"/>
                </a:solidFill>
                <a:latin typeface="Arial"/>
                <a:ea typeface="Arial"/>
                <a:cs typeface="Arial"/>
              </a:rPr>
              <a:t>New speech that is not</a:t>
            </a:r>
          </a:p>
          <a:p>
            <a:pPr algn="l">
              <a:defRPr sz="1725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44B59"/>
                </a:solidFill>
                <a:latin typeface="Arial"/>
                <a:ea typeface="Arial"/>
                <a:cs typeface="Arial"/>
              </a:rPr>
              <a:t>the agent’s own echo.</a:t>
            </a:r>
          </a:p>
        </p:txBody>
      </p:sp>
      <p:cxnSp>
        <p:nvCxnSpPr>
          <p:cNvPr id="69" name="Straight Arrow Connector 68"/>
          <p:cNvCxnSpPr>
            <a:cxnSpLocks/>
          </p:cNvCxnSpPr>
          <p:nvPr/>
        </p:nvCxnSpPr>
        <p:spPr>
          <a:xfrm>
            <a:off x="4727448" y="4572000"/>
            <a:ext cx="1133856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 w="sm" len="sm"/>
          </a:ln>
        </p:spPr>
      </p:cxnSp>
      <p:cxnSp>
        <p:nvCxnSpPr>
          <p:cNvPr id="82" name="Straight Arrow Connector Detect"/>
          <p:cNvCxnSpPr>
            <a:cxnSpLocks/>
          </p:cNvCxnSpPr>
          <p:nvPr/>
        </p:nvCxnSpPr>
        <p:spPr>
          <a:xfrm>
            <a:off x="1901951" y="4572000"/>
            <a:ext cx="1197865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 w="sm" len="sm"/>
          </a:ln>
        </p:spPr>
      </p:cxnSp>
      <p:sp>
        <p:nvSpPr>
          <p:cNvPr id="30" name="text-234">
            <a:extLst>
              <a:ext uri="{FF2B5EF4-FFF2-40B4-BE49-F238E27FC236}">
                <a16:creationId xmlns:a16="http://schemas.microsoft.com/office/drawing/2014/main" id="{F909355C-A65C-4286-876C-82134ACC2EFF}"/>
              </a:ext>
            </a:extLst>
          </p:cNvPr>
          <p:cNvSpPr>
            <a:spLocks noGrp="1"/>
          </p:cNvSpPr>
          <p:nvPr/>
        </p:nvSpPr>
        <p:spPr>
          <a:xfrm>
            <a:off x="6089904" y="4391025"/>
            <a:ext cx="260604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3</a:t>
            </a:r>
            <a:r>
              <a:rPr lang="en-US"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.</a:t>
            </a:r>
            <a:r>
              <a:rPr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 Clean </a:t>
            </a:r>
            <a:r>
              <a:rPr lang="en-US"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U</a:t>
            </a:r>
            <a:r>
              <a:rPr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31" name="text-235">
            <a:extLst>
              <a:ext uri="{FF2B5EF4-FFF2-40B4-BE49-F238E27FC236}">
                <a16:creationId xmlns:a16="http://schemas.microsoft.com/office/drawing/2014/main" id="{683B3382-D47E-4759-97D8-CF7360C971BC}"/>
              </a:ext>
            </a:extLst>
          </p:cNvPr>
          <p:cNvSpPr>
            <a:spLocks noGrp="1"/>
          </p:cNvSpPr>
          <p:nvPr/>
        </p:nvSpPr>
        <p:spPr>
          <a:xfrm>
            <a:off x="6089904" y="4848225"/>
            <a:ext cx="260604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344B59"/>
                </a:solidFill>
                <a:latin typeface="Arial"/>
                <a:ea typeface="Arial"/>
                <a:cs typeface="Arial"/>
              </a:rPr>
              <a:t>Drain synthesis without</a:t>
            </a:r>
          </a:p>
          <a:p>
            <a:pPr algn="l">
              <a:defRPr sz="1725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344B59"/>
                </a:solidFill>
                <a:latin typeface="Arial"/>
                <a:ea typeface="Arial"/>
                <a:cs typeface="Arial"/>
              </a:rPr>
              <a:t>blocking recognition.</a:t>
            </a:r>
          </a:p>
        </p:txBody>
      </p:sp>
      <p:cxnSp>
        <p:nvCxnSpPr>
          <p:cNvPr id="74" name="Straight Arrow Connector 73"/>
          <p:cNvCxnSpPr>
            <a:cxnSpLocks/>
          </p:cNvCxnSpPr>
          <p:nvPr/>
        </p:nvCxnSpPr>
        <p:spPr>
          <a:xfrm>
            <a:off x="7754112" y="4572000"/>
            <a:ext cx="868680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 w="sm" len="sm"/>
          </a:ln>
        </p:spPr>
      </p:cxnSp>
      <p:sp>
        <p:nvSpPr>
          <p:cNvPr id="35" name="text-238">
            <a:extLst>
              <a:ext uri="{FF2B5EF4-FFF2-40B4-BE49-F238E27FC236}">
                <a16:creationId xmlns:a16="http://schemas.microsoft.com/office/drawing/2014/main" id="{B6BDA774-1464-44CB-A0F1-3575F802582D}"/>
              </a:ext>
            </a:extLst>
          </p:cNvPr>
          <p:cNvSpPr>
            <a:spLocks noGrp="1"/>
          </p:cNvSpPr>
          <p:nvPr/>
        </p:nvSpPr>
        <p:spPr>
          <a:xfrm>
            <a:off x="8851392" y="4391025"/>
            <a:ext cx="260604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4</a:t>
            </a:r>
            <a:r>
              <a:rPr lang="en-US"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.</a:t>
            </a:r>
            <a:r>
              <a:rPr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 Continue</a:t>
            </a:r>
          </a:p>
        </p:txBody>
      </p:sp>
      <p:sp>
        <p:nvSpPr>
          <p:cNvPr id="36" name="text-239">
            <a:extLst>
              <a:ext uri="{FF2B5EF4-FFF2-40B4-BE49-F238E27FC236}">
                <a16:creationId xmlns:a16="http://schemas.microsoft.com/office/drawing/2014/main" id="{489EF232-7C6E-4DE1-A975-D4C80674353C}"/>
              </a:ext>
            </a:extLst>
          </p:cNvPr>
          <p:cNvSpPr>
            <a:spLocks noGrp="1"/>
          </p:cNvSpPr>
          <p:nvPr/>
        </p:nvSpPr>
        <p:spPr>
          <a:xfrm>
            <a:off x="8851392" y="4848225"/>
            <a:ext cx="260604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44B59"/>
                </a:solidFill>
                <a:latin typeface="Arial"/>
                <a:ea typeface="Arial"/>
                <a:cs typeface="Arial"/>
              </a:rPr>
              <a:t>Start only the newest</a:t>
            </a:r>
          </a:p>
          <a:p>
            <a:pPr algn="l">
              <a:defRPr sz="1725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44B59"/>
                </a:solidFill>
                <a:latin typeface="Arial"/>
                <a:ea typeface="Arial"/>
                <a:cs typeface="Arial"/>
              </a:rPr>
              <a:t>completed utterance.</a:t>
            </a:r>
          </a:p>
        </p:txBody>
      </p:sp>
      <p:sp>
        <p:nvSpPr>
          <p:cNvPr id="37" name="diagram-240">
            <a:extLst>
              <a:ext uri="{FF2B5EF4-FFF2-40B4-BE49-F238E27FC236}">
                <a16:creationId xmlns:a16="http://schemas.microsoft.com/office/drawing/2014/main" id="{4DAF03C9-E8F6-42E5-866A-A6CDF52D684D}"/>
              </a:ext>
            </a:extLst>
          </p:cNvPr>
          <p:cNvSpPr>
            <a:spLocks noGrp="1"/>
          </p:cNvSpPr>
          <p:nvPr/>
        </p:nvSpPr>
        <p:spPr>
          <a:xfrm>
            <a:off x="566738" y="57959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38" name="diagram-241">
            <a:extLst>
              <a:ext uri="{FF2B5EF4-FFF2-40B4-BE49-F238E27FC236}">
                <a16:creationId xmlns:a16="http://schemas.microsoft.com/office/drawing/2014/main" id="{B24019FB-3FF7-493F-80A0-CBEDB1DBA2EC}"/>
              </a:ext>
            </a:extLst>
          </p:cNvPr>
          <p:cNvSpPr>
            <a:spLocks noGrp="1"/>
          </p:cNvSpPr>
          <p:nvPr/>
        </p:nvSpPr>
        <p:spPr>
          <a:xfrm>
            <a:off x="11615738" y="57959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79" name="Straight Arrow Connector 78"/>
          <p:cNvCxnSpPr>
            <a:stCxn id="37" idx="3"/>
            <a:endCxn id="38" idx="1"/>
          </p:cNvCxnSpPr>
          <p:nvPr/>
        </p:nvCxnSpPr>
        <p:spPr>
          <a:xfrm>
            <a:off x="576263" y="5800726"/>
            <a:ext cx="11039475" cy="0"/>
          </a:xfrm>
          <a:prstGeom prst="straightConnector1">
            <a:avLst/>
          </a:prstGeom>
          <a:ln w="9525">
            <a:solidFill>
              <a:srgbClr val="B6C3CB"/>
            </a:solidFill>
            <a:prstDash val="solid"/>
          </a:ln>
        </p:spPr>
      </p:cxnSp>
      <p:sp>
        <p:nvSpPr>
          <p:cNvPr id="40" name="text-242">
            <a:extLst>
              <a:ext uri="{FF2B5EF4-FFF2-40B4-BE49-F238E27FC236}">
                <a16:creationId xmlns:a16="http://schemas.microsoft.com/office/drawing/2014/main" id="{34E2E380-2697-424A-96D4-C77494A73F7E}"/>
              </a:ext>
            </a:extLst>
          </p:cNvPr>
          <p:cNvSpPr>
            <a:spLocks noGrp="1"/>
          </p:cNvSpPr>
          <p:nvPr/>
        </p:nvSpPr>
        <p:spPr>
          <a:xfrm>
            <a:off x="571500" y="5925312"/>
            <a:ext cx="11049000" cy="411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lang="en-CH" dirty="0">
                <a:solidFill>
                  <a:srgbClr val="087F8C"/>
                </a:solidFill>
                <a:latin typeface="Arial"/>
              </a:rPr>
              <a:t>If a reply is interrupted or fails, the question and reply are removed from history.</a:t>
            </a:r>
            <a:endParaRPr lang="en-US" dirty="0">
              <a:solidFill>
                <a:srgbClr val="087F8C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0597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diagram-247">
            <a:extLst>
              <a:ext uri="{FF2B5EF4-FFF2-40B4-BE49-F238E27FC236}">
                <a16:creationId xmlns:a16="http://schemas.microsoft.com/office/drawing/2014/main" id="{AAA5A81A-71E5-24F5-13AE-45AA8DD9A5C1}"/>
              </a:ext>
            </a:extLst>
          </p:cNvPr>
          <p:cNvSpPr>
            <a:spLocks noGrp="1"/>
          </p:cNvSpPr>
          <p:nvPr/>
        </p:nvSpPr>
        <p:spPr>
          <a:xfrm>
            <a:off x="566738" y="4083051"/>
            <a:ext cx="1714500" cy="752475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  <p:txBody>
          <a:bodyPr/>
          <a:lstStyle/>
          <a:p>
            <a:endParaRPr lang="en-CH"/>
          </a:p>
        </p:txBody>
      </p:sp>
      <p:sp>
        <p:nvSpPr>
          <p:cNvPr id="67" name="text-243">
            <a:extLst>
              <a:ext uri="{FF2B5EF4-FFF2-40B4-BE49-F238E27FC236}">
                <a16:creationId xmlns:a16="http://schemas.microsoft.com/office/drawing/2014/main" id="{8DB45362-E09F-423A-B11E-65C460E9AFF5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3A4A"/>
                </a:solidFill>
                <a:latin typeface="Arial"/>
                <a:ea typeface="Arial"/>
                <a:cs typeface="Arial"/>
              </a:rPr>
              <a:t>Harness and Tools</a:t>
            </a:r>
          </a:p>
        </p:txBody>
      </p:sp>
      <p:sp>
        <p:nvSpPr>
          <p:cNvPr id="2" name="text-244">
            <a:extLst>
              <a:ext uri="{FF2B5EF4-FFF2-40B4-BE49-F238E27FC236}">
                <a16:creationId xmlns:a16="http://schemas.microsoft.com/office/drawing/2014/main" id="{755EF3C5-6386-48DC-B5A7-80C2C4CF3924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lang="en-CH" sz="1875" dirty="0">
                <a:solidFill>
                  <a:srgbClr val="60717C"/>
                </a:solidFill>
                <a:latin typeface="Arial"/>
              </a:rPr>
              <a:t>The application connects the components, handles one conversation turn at a time, </a:t>
            </a:r>
            <a:endParaRPr lang="en-US" sz="1875" dirty="0">
              <a:solidFill>
                <a:srgbClr val="60717C"/>
              </a:solidFill>
              <a:latin typeface="Arial"/>
            </a:endParaRPr>
          </a:p>
          <a:p>
            <a:pPr>
              <a:defRPr sz="18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lang="en-CH" sz="1875" dirty="0">
                <a:solidFill>
                  <a:srgbClr val="60717C"/>
                </a:solidFill>
                <a:latin typeface="Arial"/>
              </a:rPr>
              <a:t>and checks whether each reply has finished playing.</a:t>
            </a:r>
            <a:endParaRPr sz="1875" b="0" dirty="0">
              <a:solidFill>
                <a:srgbClr val="60717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-245">
            <a:extLst>
              <a:ext uri="{FF2B5EF4-FFF2-40B4-BE49-F238E27FC236}">
                <a16:creationId xmlns:a16="http://schemas.microsoft.com/office/drawing/2014/main" id="{57A4B8B6-D23A-45A7-B03F-70A8B81BFB18}"/>
              </a:ext>
            </a:extLst>
          </p:cNvPr>
          <p:cNvSpPr>
            <a:spLocks noGrp="1"/>
          </p:cNvSpPr>
          <p:nvPr/>
        </p:nvSpPr>
        <p:spPr>
          <a:xfrm>
            <a:off x="11096625" y="6457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text-246">
            <a:extLst>
              <a:ext uri="{FF2B5EF4-FFF2-40B4-BE49-F238E27FC236}">
                <a16:creationId xmlns:a16="http://schemas.microsoft.com/office/drawing/2014/main" id="{532F5964-A0BC-4C55-8F71-204F0DD5EC9B}"/>
              </a:ext>
            </a:extLst>
          </p:cNvPr>
          <p:cNvSpPr>
            <a:spLocks noGrp="1"/>
          </p:cNvSpPr>
          <p:nvPr/>
        </p:nvSpPr>
        <p:spPr>
          <a:xfrm>
            <a:off x="571500" y="1924050"/>
            <a:ext cx="6286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Request </a:t>
            </a:r>
            <a:r>
              <a:rPr lang="en-US" sz="2100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R</a:t>
            </a:r>
            <a:r>
              <a:rPr sz="2100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outing</a:t>
            </a:r>
          </a:p>
        </p:txBody>
      </p:sp>
      <p:sp>
        <p:nvSpPr>
          <p:cNvPr id="5" name="diagram-247">
            <a:extLst>
              <a:ext uri="{FF2B5EF4-FFF2-40B4-BE49-F238E27FC236}">
                <a16:creationId xmlns:a16="http://schemas.microsoft.com/office/drawing/2014/main" id="{522F4C9C-7FEB-410E-A70B-3015228F8793}"/>
              </a:ext>
            </a:extLst>
          </p:cNvPr>
          <p:cNvSpPr>
            <a:spLocks noGrp="1"/>
          </p:cNvSpPr>
          <p:nvPr/>
        </p:nvSpPr>
        <p:spPr>
          <a:xfrm>
            <a:off x="571500" y="2559050"/>
            <a:ext cx="1714500" cy="752475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  <p:txBody>
          <a:bodyPr/>
          <a:lstStyle/>
          <a:p>
            <a:endParaRPr lang="en-CH"/>
          </a:p>
        </p:txBody>
      </p:sp>
      <p:pic>
        <p:nvPicPr>
          <p:cNvPr id="72" name="Picture 7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2720975"/>
            <a:ext cx="285750" cy="285750"/>
          </a:xfrm>
          <a:prstGeom prst="rect">
            <a:avLst/>
          </a:prstGeom>
        </p:spPr>
      </p:pic>
      <p:sp>
        <p:nvSpPr>
          <p:cNvPr id="7" name="text-248">
            <a:extLst>
              <a:ext uri="{FF2B5EF4-FFF2-40B4-BE49-F238E27FC236}">
                <a16:creationId xmlns:a16="http://schemas.microsoft.com/office/drawing/2014/main" id="{647E4F7E-5AFE-4FDE-98F7-295E66E49BF6}"/>
              </a:ext>
            </a:extLst>
          </p:cNvPr>
          <p:cNvSpPr>
            <a:spLocks noGrp="1"/>
          </p:cNvSpPr>
          <p:nvPr/>
        </p:nvSpPr>
        <p:spPr>
          <a:xfrm>
            <a:off x="1114425" y="2673350"/>
            <a:ext cx="10287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Transcript</a:t>
            </a:r>
          </a:p>
        </p:txBody>
      </p:sp>
      <p:sp>
        <p:nvSpPr>
          <p:cNvPr id="8" name="text-249">
            <a:extLst>
              <a:ext uri="{FF2B5EF4-FFF2-40B4-BE49-F238E27FC236}">
                <a16:creationId xmlns:a16="http://schemas.microsoft.com/office/drawing/2014/main" id="{3565D885-7853-4AC9-BDC3-82D56018C589}"/>
              </a:ext>
            </a:extLst>
          </p:cNvPr>
          <p:cNvSpPr>
            <a:spLocks noGrp="1"/>
          </p:cNvSpPr>
          <p:nvPr/>
        </p:nvSpPr>
        <p:spPr>
          <a:xfrm>
            <a:off x="2581276" y="2571751"/>
            <a:ext cx="1724025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Registered</a:t>
            </a:r>
          </a:p>
          <a:p>
            <a:pPr algn="ctr">
              <a:defRPr sz="172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exact phrase?</a:t>
            </a:r>
          </a:p>
        </p:txBody>
      </p:sp>
      <p:sp>
        <p:nvSpPr>
          <p:cNvPr id="9" name="diagram-250">
            <a:extLst>
              <a:ext uri="{FF2B5EF4-FFF2-40B4-BE49-F238E27FC236}">
                <a16:creationId xmlns:a16="http://schemas.microsoft.com/office/drawing/2014/main" id="{595E60DD-C732-47A2-91E6-8D71FBF96CFB}"/>
              </a:ext>
            </a:extLst>
          </p:cNvPr>
          <p:cNvSpPr>
            <a:spLocks noGrp="1"/>
          </p:cNvSpPr>
          <p:nvPr/>
        </p:nvSpPr>
        <p:spPr>
          <a:xfrm>
            <a:off x="2328863" y="31003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10" name="diagram-251">
            <a:extLst>
              <a:ext uri="{FF2B5EF4-FFF2-40B4-BE49-F238E27FC236}">
                <a16:creationId xmlns:a16="http://schemas.microsoft.com/office/drawing/2014/main" id="{B5CC4B5A-8B68-4383-875A-61B59ECD4C6D}"/>
              </a:ext>
            </a:extLst>
          </p:cNvPr>
          <p:cNvSpPr>
            <a:spLocks noGrp="1"/>
          </p:cNvSpPr>
          <p:nvPr/>
        </p:nvSpPr>
        <p:spPr>
          <a:xfrm>
            <a:off x="2509838" y="31003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77" name="Straight Arrow Connector 76"/>
          <p:cNvCxnSpPr>
            <a:cxnSpLocks/>
          </p:cNvCxnSpPr>
          <p:nvPr/>
        </p:nvCxnSpPr>
        <p:spPr>
          <a:xfrm>
            <a:off x="2307431" y="2940050"/>
            <a:ext cx="289719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 w="sm" len="sm"/>
          </a:ln>
        </p:spPr>
      </p:cxnSp>
      <p:sp>
        <p:nvSpPr>
          <p:cNvPr id="13" name="diagram-253">
            <a:extLst>
              <a:ext uri="{FF2B5EF4-FFF2-40B4-BE49-F238E27FC236}">
                <a16:creationId xmlns:a16="http://schemas.microsoft.com/office/drawing/2014/main" id="{6541C453-52A2-420B-BFB1-208C8E926F0A}"/>
              </a:ext>
            </a:extLst>
          </p:cNvPr>
          <p:cNvSpPr>
            <a:spLocks noGrp="1"/>
          </p:cNvSpPr>
          <p:nvPr/>
        </p:nvSpPr>
        <p:spPr>
          <a:xfrm>
            <a:off x="4548188" y="29098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15" name="diagram-254">
            <a:extLst>
              <a:ext uri="{FF2B5EF4-FFF2-40B4-BE49-F238E27FC236}">
                <a16:creationId xmlns:a16="http://schemas.microsoft.com/office/drawing/2014/main" id="{19B9088D-A97D-458F-84AE-297097076402}"/>
              </a:ext>
            </a:extLst>
          </p:cNvPr>
          <p:cNvSpPr>
            <a:spLocks noGrp="1"/>
          </p:cNvSpPr>
          <p:nvPr/>
        </p:nvSpPr>
        <p:spPr>
          <a:xfrm>
            <a:off x="4548188" y="29098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16" name="diagram-255">
            <a:extLst>
              <a:ext uri="{FF2B5EF4-FFF2-40B4-BE49-F238E27FC236}">
                <a16:creationId xmlns:a16="http://schemas.microsoft.com/office/drawing/2014/main" id="{13D301F5-4333-4245-BEB6-84A64F4AB2AD}"/>
              </a:ext>
            </a:extLst>
          </p:cNvPr>
          <p:cNvSpPr>
            <a:spLocks noGrp="1"/>
          </p:cNvSpPr>
          <p:nvPr/>
        </p:nvSpPr>
        <p:spPr>
          <a:xfrm>
            <a:off x="4548188" y="25384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18" name="diagram-256">
            <a:extLst>
              <a:ext uri="{FF2B5EF4-FFF2-40B4-BE49-F238E27FC236}">
                <a16:creationId xmlns:a16="http://schemas.microsoft.com/office/drawing/2014/main" id="{1BC8C697-2E7A-41AB-A432-78212E0F56FA}"/>
              </a:ext>
            </a:extLst>
          </p:cNvPr>
          <p:cNvSpPr>
            <a:spLocks noGrp="1"/>
          </p:cNvSpPr>
          <p:nvPr/>
        </p:nvSpPr>
        <p:spPr>
          <a:xfrm>
            <a:off x="4548188" y="25384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19" name="diagram-257">
            <a:extLst>
              <a:ext uri="{FF2B5EF4-FFF2-40B4-BE49-F238E27FC236}">
                <a16:creationId xmlns:a16="http://schemas.microsoft.com/office/drawing/2014/main" id="{7CF07383-C810-4C11-92CA-3CA49BDAD18E}"/>
              </a:ext>
            </a:extLst>
          </p:cNvPr>
          <p:cNvSpPr>
            <a:spLocks noGrp="1"/>
          </p:cNvSpPr>
          <p:nvPr/>
        </p:nvSpPr>
        <p:spPr>
          <a:xfrm>
            <a:off x="4852988" y="25384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86" name="Straight Arrow Connector 85"/>
          <p:cNvCxnSpPr>
            <a:cxnSpLocks/>
          </p:cNvCxnSpPr>
          <p:nvPr/>
        </p:nvCxnSpPr>
        <p:spPr>
          <a:xfrm>
            <a:off x="4261643" y="2919413"/>
            <a:ext cx="581820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 w="sm" len="sm"/>
          </a:ln>
        </p:spPr>
      </p:cxnSp>
      <p:sp>
        <p:nvSpPr>
          <p:cNvPr id="21" name="text-258">
            <a:extLst>
              <a:ext uri="{FF2B5EF4-FFF2-40B4-BE49-F238E27FC236}">
                <a16:creationId xmlns:a16="http://schemas.microsoft.com/office/drawing/2014/main" id="{475ECCC3-1087-4AF1-AA4C-8797C9A0763C}"/>
              </a:ext>
            </a:extLst>
          </p:cNvPr>
          <p:cNvSpPr>
            <a:spLocks noGrp="1"/>
          </p:cNvSpPr>
          <p:nvPr/>
        </p:nvSpPr>
        <p:spPr>
          <a:xfrm>
            <a:off x="4261643" y="2602706"/>
            <a:ext cx="4857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2" name="diagram-259">
            <a:extLst>
              <a:ext uri="{FF2B5EF4-FFF2-40B4-BE49-F238E27FC236}">
                <a16:creationId xmlns:a16="http://schemas.microsoft.com/office/drawing/2014/main" id="{5FE0DA47-A053-423E-8555-D3279A301320}"/>
              </a:ext>
            </a:extLst>
          </p:cNvPr>
          <p:cNvSpPr>
            <a:spLocks noGrp="1"/>
          </p:cNvSpPr>
          <p:nvPr/>
        </p:nvSpPr>
        <p:spPr>
          <a:xfrm>
            <a:off x="3376613" y="34718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23" name="diagram-260">
            <a:extLst>
              <a:ext uri="{FF2B5EF4-FFF2-40B4-BE49-F238E27FC236}">
                <a16:creationId xmlns:a16="http://schemas.microsoft.com/office/drawing/2014/main" id="{D7AB42E0-3302-4924-BA6F-6F5E129E2D76}"/>
              </a:ext>
            </a:extLst>
          </p:cNvPr>
          <p:cNvSpPr>
            <a:spLocks noGrp="1"/>
          </p:cNvSpPr>
          <p:nvPr/>
        </p:nvSpPr>
        <p:spPr>
          <a:xfrm>
            <a:off x="3376613" y="42148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90" name="Straight Arrow Connector 89"/>
          <p:cNvCxnSpPr>
            <a:cxnSpLocks/>
          </p:cNvCxnSpPr>
          <p:nvPr/>
        </p:nvCxnSpPr>
        <p:spPr>
          <a:xfrm>
            <a:off x="3376613" y="3352800"/>
            <a:ext cx="9525" cy="871538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</a:ln>
        </p:spPr>
      </p:cxnSp>
      <p:sp>
        <p:nvSpPr>
          <p:cNvPr id="25" name="diagram-261">
            <a:extLst>
              <a:ext uri="{FF2B5EF4-FFF2-40B4-BE49-F238E27FC236}">
                <a16:creationId xmlns:a16="http://schemas.microsoft.com/office/drawing/2014/main" id="{DA5CD253-774C-4E88-A8FE-B695B2333DF7}"/>
              </a:ext>
            </a:extLst>
          </p:cNvPr>
          <p:cNvSpPr>
            <a:spLocks noGrp="1"/>
          </p:cNvSpPr>
          <p:nvPr/>
        </p:nvSpPr>
        <p:spPr>
          <a:xfrm>
            <a:off x="3376613" y="42148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26" name="diagram-262">
            <a:extLst>
              <a:ext uri="{FF2B5EF4-FFF2-40B4-BE49-F238E27FC236}">
                <a16:creationId xmlns:a16="http://schemas.microsoft.com/office/drawing/2014/main" id="{A494B98A-EA19-43C2-880D-DFEFC08D8309}"/>
              </a:ext>
            </a:extLst>
          </p:cNvPr>
          <p:cNvSpPr>
            <a:spLocks noGrp="1"/>
          </p:cNvSpPr>
          <p:nvPr/>
        </p:nvSpPr>
        <p:spPr>
          <a:xfrm>
            <a:off x="4843463" y="42148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93" name="Straight Arrow Connector 92"/>
          <p:cNvCxnSpPr>
            <a:cxnSpLocks/>
          </p:cNvCxnSpPr>
          <p:nvPr/>
        </p:nvCxnSpPr>
        <p:spPr>
          <a:xfrm>
            <a:off x="3376613" y="4219576"/>
            <a:ext cx="1466850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 w="sm" len="sm"/>
          </a:ln>
        </p:spPr>
      </p:cxnSp>
      <p:sp>
        <p:nvSpPr>
          <p:cNvPr id="28" name="text-263">
            <a:extLst>
              <a:ext uri="{FF2B5EF4-FFF2-40B4-BE49-F238E27FC236}">
                <a16:creationId xmlns:a16="http://schemas.microsoft.com/office/drawing/2014/main" id="{E5E6B470-1406-4B36-9BC7-6E98A8884C73}"/>
              </a:ext>
            </a:extLst>
          </p:cNvPr>
          <p:cNvSpPr>
            <a:spLocks noGrp="1"/>
          </p:cNvSpPr>
          <p:nvPr/>
        </p:nvSpPr>
        <p:spPr>
          <a:xfrm>
            <a:off x="3476625" y="3686175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9" name="diagram-264">
            <a:extLst>
              <a:ext uri="{FF2B5EF4-FFF2-40B4-BE49-F238E27FC236}">
                <a16:creationId xmlns:a16="http://schemas.microsoft.com/office/drawing/2014/main" id="{AC269F22-BAB8-4DBE-8F08-3ECA88058D86}"/>
              </a:ext>
            </a:extLst>
          </p:cNvPr>
          <p:cNvSpPr>
            <a:spLocks noGrp="1"/>
          </p:cNvSpPr>
          <p:nvPr/>
        </p:nvSpPr>
        <p:spPr>
          <a:xfrm>
            <a:off x="4857750" y="2486025"/>
            <a:ext cx="1828800" cy="847725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  <p:txBody>
          <a:bodyPr/>
          <a:lstStyle/>
          <a:p>
            <a:endParaRPr lang="en-CH"/>
          </a:p>
        </p:txBody>
      </p:sp>
      <p:pic>
        <p:nvPicPr>
          <p:cNvPr id="96" name="Picture 9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010150" y="2647950"/>
            <a:ext cx="285750" cy="285750"/>
          </a:xfrm>
          <a:prstGeom prst="rect">
            <a:avLst/>
          </a:prstGeom>
        </p:spPr>
      </p:pic>
      <p:sp>
        <p:nvSpPr>
          <p:cNvPr id="31" name="text-265">
            <a:extLst>
              <a:ext uri="{FF2B5EF4-FFF2-40B4-BE49-F238E27FC236}">
                <a16:creationId xmlns:a16="http://schemas.microsoft.com/office/drawing/2014/main" id="{10491F06-9FCB-4E59-A368-3FF37D610A11}"/>
              </a:ext>
            </a:extLst>
          </p:cNvPr>
          <p:cNvSpPr>
            <a:spLocks noGrp="1"/>
          </p:cNvSpPr>
          <p:nvPr/>
        </p:nvSpPr>
        <p:spPr>
          <a:xfrm>
            <a:off x="5400675" y="2600325"/>
            <a:ext cx="11430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Handler</a:t>
            </a:r>
          </a:p>
        </p:txBody>
      </p:sp>
      <p:sp>
        <p:nvSpPr>
          <p:cNvPr id="32" name="text-266">
            <a:extLst>
              <a:ext uri="{FF2B5EF4-FFF2-40B4-BE49-F238E27FC236}">
                <a16:creationId xmlns:a16="http://schemas.microsoft.com/office/drawing/2014/main" id="{D8461C39-63AF-4579-ACB6-1AB4A53E43C0}"/>
              </a:ext>
            </a:extLst>
          </p:cNvPr>
          <p:cNvSpPr>
            <a:spLocks noGrp="1"/>
          </p:cNvSpPr>
          <p:nvPr/>
        </p:nvSpPr>
        <p:spPr>
          <a:xfrm>
            <a:off x="5010150" y="3000375"/>
            <a:ext cx="1524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Direct </a:t>
            </a:r>
            <a:r>
              <a:rPr lang="en-US" sz="1650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R</a:t>
            </a:r>
            <a:r>
              <a:rPr sz="1650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esult</a:t>
            </a:r>
          </a:p>
        </p:txBody>
      </p:sp>
      <p:sp>
        <p:nvSpPr>
          <p:cNvPr id="33" name="diagram-267">
            <a:extLst>
              <a:ext uri="{FF2B5EF4-FFF2-40B4-BE49-F238E27FC236}">
                <a16:creationId xmlns:a16="http://schemas.microsoft.com/office/drawing/2014/main" id="{DA4687BC-9F05-4EDC-89E9-A7F09EAEBBDE}"/>
              </a:ext>
            </a:extLst>
          </p:cNvPr>
          <p:cNvSpPr>
            <a:spLocks noGrp="1"/>
          </p:cNvSpPr>
          <p:nvPr/>
        </p:nvSpPr>
        <p:spPr>
          <a:xfrm>
            <a:off x="4857750" y="3790950"/>
            <a:ext cx="1828800" cy="85725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  <p:txBody>
          <a:bodyPr/>
          <a:lstStyle/>
          <a:p>
            <a:endParaRPr lang="en-CH"/>
          </a:p>
        </p:txBody>
      </p:sp>
      <p:pic>
        <p:nvPicPr>
          <p:cNvPr id="100" name="Picture 9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010150" y="3952875"/>
            <a:ext cx="285750" cy="285750"/>
          </a:xfrm>
          <a:prstGeom prst="rect">
            <a:avLst/>
          </a:prstGeom>
        </p:spPr>
      </p:pic>
      <p:sp>
        <p:nvSpPr>
          <p:cNvPr id="35" name="text-268">
            <a:extLst>
              <a:ext uri="{FF2B5EF4-FFF2-40B4-BE49-F238E27FC236}">
                <a16:creationId xmlns:a16="http://schemas.microsoft.com/office/drawing/2014/main" id="{DE70D8C5-9BA6-4612-B25D-9A3B204033F5}"/>
              </a:ext>
            </a:extLst>
          </p:cNvPr>
          <p:cNvSpPr>
            <a:spLocks noGrp="1"/>
          </p:cNvSpPr>
          <p:nvPr/>
        </p:nvSpPr>
        <p:spPr>
          <a:xfrm>
            <a:off x="5400675" y="3905250"/>
            <a:ext cx="11430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36" name="text-269">
            <a:extLst>
              <a:ext uri="{FF2B5EF4-FFF2-40B4-BE49-F238E27FC236}">
                <a16:creationId xmlns:a16="http://schemas.microsoft.com/office/drawing/2014/main" id="{33CE9409-641C-42E5-82B7-D294FBE4838B}"/>
              </a:ext>
            </a:extLst>
          </p:cNvPr>
          <p:cNvSpPr>
            <a:spLocks noGrp="1"/>
          </p:cNvSpPr>
          <p:nvPr/>
        </p:nvSpPr>
        <p:spPr>
          <a:xfrm>
            <a:off x="5010150" y="4305300"/>
            <a:ext cx="1524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Prompt </a:t>
            </a:r>
            <a:r>
              <a:rPr lang="en-US" sz="1650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C</a:t>
            </a:r>
            <a:r>
              <a:rPr sz="1650" b="0" dirty="0">
                <a:solidFill>
                  <a:srgbClr val="60717C"/>
                </a:solidFill>
                <a:latin typeface="Arial"/>
                <a:ea typeface="Arial"/>
                <a:cs typeface="Arial"/>
              </a:rPr>
              <a:t>ontext</a:t>
            </a:r>
          </a:p>
        </p:txBody>
      </p:sp>
      <p:sp>
        <p:nvSpPr>
          <p:cNvPr id="37" name="diagram-270">
            <a:extLst>
              <a:ext uri="{FF2B5EF4-FFF2-40B4-BE49-F238E27FC236}">
                <a16:creationId xmlns:a16="http://schemas.microsoft.com/office/drawing/2014/main" id="{8A1A503E-0FA8-4E1A-B7D2-1E12214428C3}"/>
              </a:ext>
            </a:extLst>
          </p:cNvPr>
          <p:cNvSpPr>
            <a:spLocks noGrp="1"/>
          </p:cNvSpPr>
          <p:nvPr/>
        </p:nvSpPr>
        <p:spPr>
          <a:xfrm>
            <a:off x="4219575" y="5057774"/>
            <a:ext cx="2524125" cy="53340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-271">
            <a:extLst>
              <a:ext uri="{FF2B5EF4-FFF2-40B4-BE49-F238E27FC236}">
                <a16:creationId xmlns:a16="http://schemas.microsoft.com/office/drawing/2014/main" id="{B38689C1-7819-4C4A-8D47-48CDABA4B78D}"/>
              </a:ext>
            </a:extLst>
          </p:cNvPr>
          <p:cNvSpPr>
            <a:spLocks noGrp="1"/>
          </p:cNvSpPr>
          <p:nvPr/>
        </p:nvSpPr>
        <p:spPr>
          <a:xfrm>
            <a:off x="4719638" y="5118894"/>
            <a:ext cx="18669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Speech </a:t>
            </a:r>
            <a:r>
              <a:rPr lang="en-US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S</a:t>
            </a:r>
            <a:r>
              <a:rPr sz="1600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ynthesis</a:t>
            </a:r>
          </a:p>
        </p:txBody>
      </p:sp>
      <p:sp>
        <p:nvSpPr>
          <p:cNvPr id="39" name="diagram-272">
            <a:extLst>
              <a:ext uri="{FF2B5EF4-FFF2-40B4-BE49-F238E27FC236}">
                <a16:creationId xmlns:a16="http://schemas.microsoft.com/office/drawing/2014/main" id="{FD3BD211-7DAF-42A3-AE8B-59E09E1BEA07}"/>
              </a:ext>
            </a:extLst>
          </p:cNvPr>
          <p:cNvSpPr>
            <a:spLocks noGrp="1"/>
          </p:cNvSpPr>
          <p:nvPr/>
        </p:nvSpPr>
        <p:spPr>
          <a:xfrm>
            <a:off x="6738938" y="25384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40" name="diagram-273">
            <a:extLst>
              <a:ext uri="{FF2B5EF4-FFF2-40B4-BE49-F238E27FC236}">
                <a16:creationId xmlns:a16="http://schemas.microsoft.com/office/drawing/2014/main" id="{37035C99-1FE1-4B5E-B282-FA249BB298EC}"/>
              </a:ext>
            </a:extLst>
          </p:cNvPr>
          <p:cNvSpPr>
            <a:spLocks noGrp="1"/>
          </p:cNvSpPr>
          <p:nvPr/>
        </p:nvSpPr>
        <p:spPr>
          <a:xfrm>
            <a:off x="7005638" y="25384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107" name="Straight Arrow Connector 106"/>
          <p:cNvCxnSpPr>
            <a:cxnSpLocks/>
          </p:cNvCxnSpPr>
          <p:nvPr/>
        </p:nvCxnSpPr>
        <p:spPr>
          <a:xfrm>
            <a:off x="6691313" y="2898777"/>
            <a:ext cx="323850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</a:ln>
        </p:spPr>
      </p:cxnSp>
      <p:sp>
        <p:nvSpPr>
          <p:cNvPr id="42" name="diagram-274">
            <a:extLst>
              <a:ext uri="{FF2B5EF4-FFF2-40B4-BE49-F238E27FC236}">
                <a16:creationId xmlns:a16="http://schemas.microsoft.com/office/drawing/2014/main" id="{69C8852F-07C0-421E-8B9F-0898B469CC91}"/>
              </a:ext>
            </a:extLst>
          </p:cNvPr>
          <p:cNvSpPr>
            <a:spLocks noGrp="1"/>
          </p:cNvSpPr>
          <p:nvPr/>
        </p:nvSpPr>
        <p:spPr>
          <a:xfrm>
            <a:off x="7005638" y="25384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43" name="diagram-275">
            <a:extLst>
              <a:ext uri="{FF2B5EF4-FFF2-40B4-BE49-F238E27FC236}">
                <a16:creationId xmlns:a16="http://schemas.microsoft.com/office/drawing/2014/main" id="{5AEB44AD-755B-4642-8EF2-DB415ADB5AF4}"/>
              </a:ext>
            </a:extLst>
          </p:cNvPr>
          <p:cNvSpPr>
            <a:spLocks noGrp="1"/>
          </p:cNvSpPr>
          <p:nvPr/>
        </p:nvSpPr>
        <p:spPr>
          <a:xfrm>
            <a:off x="7005638" y="53197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110" name="Straight Arrow Connector 109"/>
          <p:cNvCxnSpPr>
            <a:cxnSpLocks/>
          </p:cNvCxnSpPr>
          <p:nvPr/>
        </p:nvCxnSpPr>
        <p:spPr>
          <a:xfrm>
            <a:off x="7015164" y="2888456"/>
            <a:ext cx="0" cy="2440782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</a:ln>
        </p:spPr>
      </p:cxnSp>
      <p:sp>
        <p:nvSpPr>
          <p:cNvPr id="45" name="diagram-276">
            <a:extLst>
              <a:ext uri="{FF2B5EF4-FFF2-40B4-BE49-F238E27FC236}">
                <a16:creationId xmlns:a16="http://schemas.microsoft.com/office/drawing/2014/main" id="{6A8E9174-7DDF-446A-9A98-61DF4B97978D}"/>
              </a:ext>
            </a:extLst>
          </p:cNvPr>
          <p:cNvSpPr>
            <a:spLocks noGrp="1"/>
          </p:cNvSpPr>
          <p:nvPr/>
        </p:nvSpPr>
        <p:spPr>
          <a:xfrm>
            <a:off x="7005638" y="53197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46" name="diagram-277">
            <a:extLst>
              <a:ext uri="{FF2B5EF4-FFF2-40B4-BE49-F238E27FC236}">
                <a16:creationId xmlns:a16="http://schemas.microsoft.com/office/drawing/2014/main" id="{2598968A-A14F-44FF-8D87-830E4A48E702}"/>
              </a:ext>
            </a:extLst>
          </p:cNvPr>
          <p:cNvSpPr>
            <a:spLocks noGrp="1"/>
          </p:cNvSpPr>
          <p:nvPr/>
        </p:nvSpPr>
        <p:spPr>
          <a:xfrm>
            <a:off x="6738938" y="53197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113" name="Straight Arrow Connector 112"/>
          <p:cNvCxnSpPr>
            <a:cxnSpLocks/>
          </p:cNvCxnSpPr>
          <p:nvPr/>
        </p:nvCxnSpPr>
        <p:spPr>
          <a:xfrm flipH="1">
            <a:off x="6748463" y="5319714"/>
            <a:ext cx="257175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 w="sm" len="sm"/>
          </a:ln>
        </p:spPr>
      </p:cxnSp>
      <p:sp>
        <p:nvSpPr>
          <p:cNvPr id="48" name="diagram-278">
            <a:extLst>
              <a:ext uri="{FF2B5EF4-FFF2-40B4-BE49-F238E27FC236}">
                <a16:creationId xmlns:a16="http://schemas.microsoft.com/office/drawing/2014/main" id="{D4762D64-DB4D-4E0F-9D17-8632D1248EC2}"/>
              </a:ext>
            </a:extLst>
          </p:cNvPr>
          <p:cNvSpPr>
            <a:spLocks noGrp="1"/>
          </p:cNvSpPr>
          <p:nvPr/>
        </p:nvSpPr>
        <p:spPr>
          <a:xfrm>
            <a:off x="5767388" y="47005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49" name="diagram-279">
            <a:extLst>
              <a:ext uri="{FF2B5EF4-FFF2-40B4-BE49-F238E27FC236}">
                <a16:creationId xmlns:a16="http://schemas.microsoft.com/office/drawing/2014/main" id="{36558EFB-5C83-4383-A05D-89D417F311A9}"/>
              </a:ext>
            </a:extLst>
          </p:cNvPr>
          <p:cNvSpPr>
            <a:spLocks noGrp="1"/>
          </p:cNvSpPr>
          <p:nvPr/>
        </p:nvSpPr>
        <p:spPr>
          <a:xfrm>
            <a:off x="5767388" y="50434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116" name="Straight Arrow Connector 115"/>
          <p:cNvCxnSpPr>
            <a:stCxn id="48" idx="2"/>
            <a:endCxn id="49" idx="0"/>
          </p:cNvCxnSpPr>
          <p:nvPr/>
        </p:nvCxnSpPr>
        <p:spPr>
          <a:xfrm>
            <a:off x="5772151" y="4710113"/>
            <a:ext cx="0" cy="333375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 w="sm" len="sm"/>
          </a:ln>
        </p:spPr>
      </p:cxnSp>
      <p:pic>
        <p:nvPicPr>
          <p:cNvPr id="117" name="Picture 11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31033" y="4305300"/>
            <a:ext cx="257174" cy="257174"/>
          </a:xfrm>
          <a:prstGeom prst="rect">
            <a:avLst/>
          </a:prstGeom>
        </p:spPr>
      </p:pic>
      <p:sp>
        <p:nvSpPr>
          <p:cNvPr id="52" name="text-280">
            <a:extLst>
              <a:ext uri="{FF2B5EF4-FFF2-40B4-BE49-F238E27FC236}">
                <a16:creationId xmlns:a16="http://schemas.microsoft.com/office/drawing/2014/main" id="{90F9FCF8-DD8A-48F0-A386-A11235292B8C}"/>
              </a:ext>
            </a:extLst>
          </p:cNvPr>
          <p:cNvSpPr>
            <a:spLocks noGrp="1"/>
          </p:cNvSpPr>
          <p:nvPr/>
        </p:nvSpPr>
        <p:spPr>
          <a:xfrm>
            <a:off x="947738" y="4254500"/>
            <a:ext cx="13239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344B59"/>
                </a:solidFill>
                <a:latin typeface="Arial"/>
                <a:ea typeface="Arial"/>
                <a:cs typeface="Arial"/>
              </a:rPr>
              <a:t>Allowed </a:t>
            </a:r>
            <a:r>
              <a:rPr lang="en-US" sz="1650" b="0" dirty="0">
                <a:solidFill>
                  <a:srgbClr val="344B59"/>
                </a:solidFill>
                <a:latin typeface="Arial"/>
                <a:ea typeface="Arial"/>
                <a:cs typeface="Arial"/>
              </a:rPr>
              <a:t>F</a:t>
            </a:r>
            <a:r>
              <a:rPr sz="1650" b="0" dirty="0">
                <a:solidFill>
                  <a:srgbClr val="344B59"/>
                </a:solidFill>
                <a:latin typeface="Arial"/>
                <a:ea typeface="Arial"/>
                <a:cs typeface="Arial"/>
              </a:rPr>
              <a:t>ile</a:t>
            </a:r>
            <a:r>
              <a:rPr lang="en-US" sz="1650" b="0" dirty="0">
                <a:solidFill>
                  <a:srgbClr val="344B59"/>
                </a:solidFill>
                <a:latin typeface="Arial"/>
                <a:ea typeface="Arial"/>
                <a:cs typeface="Arial"/>
              </a:rPr>
              <a:t>s</a:t>
            </a:r>
            <a:endParaRPr sz="1650" b="0" dirty="0">
              <a:solidFill>
                <a:srgbClr val="344B5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diagram-281">
            <a:extLst>
              <a:ext uri="{FF2B5EF4-FFF2-40B4-BE49-F238E27FC236}">
                <a16:creationId xmlns:a16="http://schemas.microsoft.com/office/drawing/2014/main" id="{0E8A2A56-8F8A-43D0-B9FD-CDDE74C5119C}"/>
              </a:ext>
            </a:extLst>
          </p:cNvPr>
          <p:cNvSpPr>
            <a:spLocks noGrp="1"/>
          </p:cNvSpPr>
          <p:nvPr/>
        </p:nvSpPr>
        <p:spPr>
          <a:xfrm>
            <a:off x="2176463" y="44434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54" name="diagram-282">
            <a:extLst>
              <a:ext uri="{FF2B5EF4-FFF2-40B4-BE49-F238E27FC236}">
                <a16:creationId xmlns:a16="http://schemas.microsoft.com/office/drawing/2014/main" id="{1526674E-BB8C-4675-B95C-11D5DE300096}"/>
              </a:ext>
            </a:extLst>
          </p:cNvPr>
          <p:cNvSpPr>
            <a:spLocks noGrp="1"/>
          </p:cNvSpPr>
          <p:nvPr/>
        </p:nvSpPr>
        <p:spPr>
          <a:xfrm>
            <a:off x="4843463" y="44434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121" name="Straight Arrow Connector 120"/>
          <p:cNvCxnSpPr>
            <a:cxnSpLocks/>
            <a:endCxn id="54" idx="1"/>
          </p:cNvCxnSpPr>
          <p:nvPr/>
        </p:nvCxnSpPr>
        <p:spPr>
          <a:xfrm>
            <a:off x="2338388" y="4448176"/>
            <a:ext cx="2505075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sm" len="sm"/>
          </a:ln>
        </p:spPr>
      </p:cxnSp>
      <p:sp>
        <p:nvSpPr>
          <p:cNvPr id="56" name="diagram-283">
            <a:extLst>
              <a:ext uri="{FF2B5EF4-FFF2-40B4-BE49-F238E27FC236}">
                <a16:creationId xmlns:a16="http://schemas.microsoft.com/office/drawing/2014/main" id="{CC745D37-D403-4E12-91F6-F3D93C84A928}"/>
              </a:ext>
            </a:extLst>
          </p:cNvPr>
          <p:cNvSpPr>
            <a:spLocks noGrp="1"/>
          </p:cNvSpPr>
          <p:nvPr/>
        </p:nvSpPr>
        <p:spPr>
          <a:xfrm>
            <a:off x="7462838" y="20240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57" name="diagram-284">
            <a:extLst>
              <a:ext uri="{FF2B5EF4-FFF2-40B4-BE49-F238E27FC236}">
                <a16:creationId xmlns:a16="http://schemas.microsoft.com/office/drawing/2014/main" id="{E0680EEE-FDA8-4CCA-B6EB-95C1AA80A03A}"/>
              </a:ext>
            </a:extLst>
          </p:cNvPr>
          <p:cNvSpPr>
            <a:spLocks noGrp="1"/>
          </p:cNvSpPr>
          <p:nvPr/>
        </p:nvSpPr>
        <p:spPr>
          <a:xfrm>
            <a:off x="7462838" y="55006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59" name="text-285">
            <a:extLst>
              <a:ext uri="{FF2B5EF4-FFF2-40B4-BE49-F238E27FC236}">
                <a16:creationId xmlns:a16="http://schemas.microsoft.com/office/drawing/2014/main" id="{4126C0E8-7DA9-4689-9B83-54E3F967310B}"/>
              </a:ext>
            </a:extLst>
          </p:cNvPr>
          <p:cNvSpPr>
            <a:spLocks noGrp="1"/>
          </p:cNvSpPr>
          <p:nvPr/>
        </p:nvSpPr>
        <p:spPr>
          <a:xfrm>
            <a:off x="7905750" y="2057400"/>
            <a:ext cx="371475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Implemented </a:t>
            </a:r>
            <a:r>
              <a:rPr lang="en-US"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C</a:t>
            </a:r>
            <a:r>
              <a:rPr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ommands</a:t>
            </a:r>
          </a:p>
        </p:txBody>
      </p:sp>
      <p:sp>
        <p:nvSpPr>
          <p:cNvPr id="60" name="text-286">
            <a:extLst>
              <a:ext uri="{FF2B5EF4-FFF2-40B4-BE49-F238E27FC236}">
                <a16:creationId xmlns:a16="http://schemas.microsoft.com/office/drawing/2014/main" id="{ABF46113-0BC0-4E50-B49C-1415290D4C26}"/>
              </a:ext>
            </a:extLst>
          </p:cNvPr>
          <p:cNvSpPr>
            <a:spLocks noGrp="1"/>
          </p:cNvSpPr>
          <p:nvPr/>
        </p:nvSpPr>
        <p:spPr>
          <a:xfrm>
            <a:off x="7905750" y="2514600"/>
            <a:ext cx="371475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344B59"/>
                </a:solidFill>
                <a:latin typeface="Arial"/>
                <a:ea typeface="Arial"/>
                <a:cs typeface="Arial"/>
              </a:rPr>
              <a:t>Time, date, help and reset use</a:t>
            </a:r>
          </a:p>
          <a:p>
            <a:pPr algn="l">
              <a:defRPr sz="1800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344B59"/>
                </a:solidFill>
                <a:latin typeface="Arial"/>
                <a:ea typeface="Arial"/>
                <a:cs typeface="Arial"/>
              </a:rPr>
              <a:t>registered whole-phrase matches.</a:t>
            </a:r>
          </a:p>
        </p:txBody>
      </p:sp>
      <p:sp>
        <p:nvSpPr>
          <p:cNvPr id="61" name="text-287">
            <a:extLst>
              <a:ext uri="{FF2B5EF4-FFF2-40B4-BE49-F238E27FC236}">
                <a16:creationId xmlns:a16="http://schemas.microsoft.com/office/drawing/2014/main" id="{98606097-5D0B-46A3-9022-2E14926E482C}"/>
              </a:ext>
            </a:extLst>
          </p:cNvPr>
          <p:cNvSpPr>
            <a:spLocks noGrp="1"/>
          </p:cNvSpPr>
          <p:nvPr/>
        </p:nvSpPr>
        <p:spPr>
          <a:xfrm>
            <a:off x="7905750" y="3810000"/>
            <a:ext cx="371475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213A4A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Scoped </a:t>
            </a:r>
            <a:r>
              <a:rPr lang="en-US"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F</a:t>
            </a:r>
            <a:r>
              <a:rPr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ile </a:t>
            </a:r>
            <a:r>
              <a:rPr lang="en-US"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C</a:t>
            </a:r>
            <a:r>
              <a:rPr sz="2025" b="1" dirty="0">
                <a:solidFill>
                  <a:srgbClr val="213A4A"/>
                </a:solidFill>
                <a:latin typeface="Arial"/>
                <a:ea typeface="Arial"/>
                <a:cs typeface="Arial"/>
              </a:rPr>
              <a:t>ontext</a:t>
            </a:r>
          </a:p>
        </p:txBody>
      </p:sp>
      <p:sp>
        <p:nvSpPr>
          <p:cNvPr id="62" name="text-288">
            <a:extLst>
              <a:ext uri="{FF2B5EF4-FFF2-40B4-BE49-F238E27FC236}">
                <a16:creationId xmlns:a16="http://schemas.microsoft.com/office/drawing/2014/main" id="{58B825E8-C39D-4F28-B593-A3BF5066E0E4}"/>
              </a:ext>
            </a:extLst>
          </p:cNvPr>
          <p:cNvSpPr>
            <a:spLocks noGrp="1"/>
          </p:cNvSpPr>
          <p:nvPr/>
        </p:nvSpPr>
        <p:spPr>
          <a:xfrm>
            <a:off x="7905750" y="4267200"/>
            <a:ext cx="371475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344B59"/>
                </a:solidFill>
                <a:latin typeface="Arial"/>
                <a:ea typeface="Arial"/>
                <a:cs typeface="Arial"/>
              </a:rPr>
              <a:t>Read top-level UTF-8 .txt files</a:t>
            </a:r>
          </a:p>
          <a:p>
            <a:pPr algn="l">
              <a:defRPr sz="1800" b="0">
                <a:solidFill>
                  <a:srgbClr val="344B59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344B59"/>
                </a:solidFill>
                <a:latin typeface="Arial"/>
                <a:ea typeface="Arial"/>
                <a:cs typeface="Arial"/>
              </a:rPr>
              <a:t>under the allowed folder, up to 64 KiB.</a:t>
            </a:r>
          </a:p>
        </p:txBody>
      </p:sp>
      <p:sp>
        <p:nvSpPr>
          <p:cNvPr id="63" name="diagram-289">
            <a:extLst>
              <a:ext uri="{FF2B5EF4-FFF2-40B4-BE49-F238E27FC236}">
                <a16:creationId xmlns:a16="http://schemas.microsoft.com/office/drawing/2014/main" id="{C7BBA949-3E33-4802-97DB-801D0DD831A9}"/>
              </a:ext>
            </a:extLst>
          </p:cNvPr>
          <p:cNvSpPr>
            <a:spLocks noGrp="1"/>
          </p:cNvSpPr>
          <p:nvPr/>
        </p:nvSpPr>
        <p:spPr>
          <a:xfrm>
            <a:off x="566738" y="57959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sp>
        <p:nvSpPr>
          <p:cNvPr id="64" name="diagram-290">
            <a:extLst>
              <a:ext uri="{FF2B5EF4-FFF2-40B4-BE49-F238E27FC236}">
                <a16:creationId xmlns:a16="http://schemas.microsoft.com/office/drawing/2014/main" id="{77A10CA9-0A0C-4269-9A91-D8F0A018B13C}"/>
              </a:ext>
            </a:extLst>
          </p:cNvPr>
          <p:cNvSpPr>
            <a:spLocks noGrp="1"/>
          </p:cNvSpPr>
          <p:nvPr/>
        </p:nvSpPr>
        <p:spPr>
          <a:xfrm>
            <a:off x="11615738" y="57959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en-CH"/>
          </a:p>
        </p:txBody>
      </p:sp>
      <p:cxnSp>
        <p:nvCxnSpPr>
          <p:cNvPr id="131" name="Straight Arrow Connector 130"/>
          <p:cNvCxnSpPr>
            <a:stCxn id="63" idx="3"/>
            <a:endCxn id="64" idx="1"/>
          </p:cNvCxnSpPr>
          <p:nvPr/>
        </p:nvCxnSpPr>
        <p:spPr>
          <a:xfrm>
            <a:off x="576263" y="5800726"/>
            <a:ext cx="11039475" cy="0"/>
          </a:xfrm>
          <a:prstGeom prst="straightConnector1">
            <a:avLst/>
          </a:prstGeom>
          <a:ln w="9525">
            <a:solidFill>
              <a:srgbClr val="B6C3CB"/>
            </a:solidFill>
            <a:prstDash val="solid"/>
          </a:ln>
        </p:spPr>
      </p:cxnSp>
      <p:sp>
        <p:nvSpPr>
          <p:cNvPr id="66" name="text-291">
            <a:extLst>
              <a:ext uri="{FF2B5EF4-FFF2-40B4-BE49-F238E27FC236}">
                <a16:creationId xmlns:a16="http://schemas.microsoft.com/office/drawing/2014/main" id="{CB867B08-8B7B-4370-994B-FF6F0386E8EB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The LLM has no general shell access or autonomous tool selection in this implementation.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6E9B52-601F-E8F3-4B84-71D0F863DE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288632" y="5123656"/>
            <a:ext cx="36195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289935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Presentatio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resentat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esentation">
  <a:themeElements>
    <a:clrScheme name="Presentatio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resentat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1044</Words>
  <Application>Microsoft Office PowerPoint</Application>
  <DocSecurity>0</DocSecurity>
  <PresentationFormat>Widescreen</PresentationFormat>
  <Paragraphs>168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Single, Michael Andreas (ARTORG)</cp:lastModifiedBy>
  <cp:revision>1</cp:revision>
  <dcterms:modified xsi:type="dcterms:W3CDTF">2026-09-28T22:00:09Z</dcterms:modified>
</cp:coreProperties>
</file>